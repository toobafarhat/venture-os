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technical evaluation presentation of VentureOS. My name is Tooba Farhat. VentureOS was engineered from the ground up to solve the operational fragmentation problem in modern technology startups. Rather than building another superficial CRUD prototype or chatbot, VentureOS connects 10 mission-critical business modules into a closed-loop intelligence architecture where real transactional data powers deterministic analytics, bounded AI tool-calling, and human-in-the-loop task execution. Today I will walk you through the end-to-end architecture, multi-tenant database design, AI orchestration, security boundaries, testing suite, and live cloud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present the core identity of VentureOS. Disconnected SaaS tools create operational silos where customer feedback never informs sales pipeline risk, and accounting never speaks to project timelines. VentureOS unifies 10 core business areas into a single operational schema. Notice the closed-loop formula at the top: it is fundamental to our design philosophy. We never permit an LLM to perform arithmetic or make autonomous, unverified mutations to user data. Data flows deterministically into analytics, the AI provides qualitative synthesis, and human operators maintain complete approval authority before actions are committed.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contrast the core industry dilemma against the VentureOS solution. In traditional organizations, when a customer experiences billing problems, that feedback sits quietly in a support queue. In VentureOS, as shown on the right, that negative feedback immediately updates customer health indices, triggers cross-module risk correlation, alerts the AI Copilot to review related sprint tasks, and presents the manager with a pre-configured, one-click remediation task. This is an actual end-to-end user journey that has been implemented and tested in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illustrates our full-stack architecture. Notice the clean three-tier separation. On the left, the client layer uses Vite and React 18 with TanStack Query. Every outgoing request carries two essential headers: the JWT bearer token and the active x-workspace-id. In the middle tier, our Express server uses strict middleware to verify workspace membership before any controller executes. Notice the deterministic engines: calculations for MRR, burn rate, and health scores are executed in pure TypeScript algorithms, not by an LLM. On the right, MongoDB Atlas provides persistent multi-tenant storage, deployed live on Render.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our data modeling decisions. Multi-tenancy was our primary architectural priority. Every single operational collection in MongoDB enforces a required, indexed workspaceId field. In our integration tests, we verified this cryptographically: even when authenticated as an Owner, an attempt to access another workspace's records returns an empty result set or a 403 Forbidden. On the right, you can see how our 20 models are logically clustered into 7 functional domains.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explains why VentureOS's AI layer is strictly bounded and trustworthy. Most LLM integrations suffer from two catastrophic flaws: hallucinations and unauthorized side-effects. We solved both. First, the Copilot has access to 10 strictly read-only tools. It cannot write directly to the database. When an action is needed—such as creating a project task—it emits an ActionProposal card. Second, we built an AI provider orchestrator that abstracts Google Gemini, OpenAI, and a Mock fallback engine, complete with token and financial cost accounting for every single API call.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walks through our RAG architecture. We support four enterprise document formats: PDF, Word DOCX, CSV, and TXT. When a document is uploaded, it is parsed and chunked using a sliding window of 250 words with 40-word overlap. Chunks are converted into vector embeddings and searched using cosine similarity. Crucially, we enforce prompt-injection security: user documents are wrapped in isolated context tags, and the model is restricted from executing any instructions contained inside uploaded files. Answers always cite their source document and chunk index.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an enterprise requirement, not an afterthought. On Slide 8, we present the six defensive pillars of VentureOS. A critical engineering principle we adopted is: 'Never trust the client'. Even if an attacker modifies the frontend state or injects a foreign workspaceId into the HTTP headers, our resolveWorkspace backend middleware cross-references the user's authenticated session in the database. If the user is not an active member of that workspace, the request is immediately terminated.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demonstrates our engineering maturity by highlighting the technical trade-offs we navigated. For example, when dealing with financial metrics, many AI applications let the LLM calculate MRR directly from transaction history, which inevitably produces hallucinations. We made the conscious decision to decouple math from generation: our TypeScript backend computes the exact linear regression and runway days, and passes the computed summary to Gemini. Similarly, our AI Provider Abstraction guarantees that even if external Gemini rate limits are reached, the platform falls back smoothly.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present our verified testing evidence. We do not claim test coverage based on theoretical expectations. In our Jest and Supertest suites, 9 out of 9 integration and unit test suites pass cleanly with zero failures. Specifically, the core journey required by the selection specification—Registering, Creating a Workspace, Adding a Lead, Running AI Lead Scoring, Creating a Linked Task, Completing the Task, and verifying the Executive Dashboard updates—is fully automated and passing.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shares our actual live production architecture. We are proud to present verified, working production URLs: ventureos-app.onrender.com for the frontend and venture-os-nh3b.onrender.com for the backend. Both communicate over secure HTTPS with MongoDB Atlas in the cloud. We also address cloud operational realities honestly: on the Render free tier, instances spin down after 15 minutes of inactivity, so the first request incurs a 30-second cold start. In a production enterprise tier, persistent compute nodes eliminate this latency.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provides a step-by-step walkthrough of the platform in action. This is the scenario I invite the evaluators to test on the live platform right now using the pre-seeded demo credentials. Notice how the journey flows smoothly from risk identification in the dashboard, through contextual tool inspection in the Copilot, to a structured action proposal card, and finally into verified database records. Every step maintains human oversight, data integrity, and complete audit logging.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performance and fault tolerance engineering. In enterprise software, stability under adverse conditions is what separates real systems from toys. We implemented database compound indexing, TanStack Query caching, token clamping, and graceful AI fallback routines. If the Google Gemini API experiences transient downtime, the user does not receive a raw server crash or 500 error; instead, the system falls back gracefully to deterministic rule-based advice while logging the failure in the background.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outlines our future engineering roadmap. We have grouped planned capabilities into three realistic, structured phases. In the near term, we will implement Redis and BullMQ to handle background document processing asynchronously. In the medium term, we plan to connect external vector engines like Pinecone or Qdrant for enterprise-scale document libraries. And in the long term, we envision decomposing our analytics and AI microservices for multi-region scalability.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VentureOS is a comprehensive, production-grade operating system designed with rigorous architectural principles. It achieves the exact balance between cutting-edge AI capabilities and enterprise-grade reliability, security, and governance. I welcome any questions regarding the codebase, architecture, AI tools, or live deployment.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280160"/>
            <a:ext cx="36576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515600" cy="1097280"/>
          </a:xfrm>
          <a:prstGeom prst="rect">
            <a:avLst/>
          </a:prstGeom>
          <a:noFill/>
        </p:spPr>
        <p:txBody>
          <a:bodyPr wrap="square">
            <a:spAutoFit/>
          </a:bodyPr>
          <a:lstStyle/>
          <a:p>
            <a:pPr>
              <a:defRPr sz="4400" b="1">
                <a:solidFill>
                  <a:srgbClr val="FFFFFF"/>
                </a:solidFill>
              </a:defRPr>
            </a:pPr>
            <a:r>
              <a:t>VentureOS</a:t>
            </a:r>
          </a:p>
          <a:p>
            <a:pPr>
              <a:spcBef>
                <a:spcPts val="800"/>
              </a:spcBef>
              <a:defRPr sz="2000">
                <a:solidFill>
                  <a:srgbClr val="C7D2FE"/>
                </a:solidFill>
              </a:defRPr>
            </a:pPr>
            <a:r>
              <a:t>AI-Powered Business Intelligence &amp; Autonomous SaaS Operations Platform</a:t>
            </a:r>
          </a:p>
        </p:txBody>
      </p:sp>
      <p:sp>
        <p:nvSpPr>
          <p:cNvPr id="5" name="TextBox 4"/>
          <p:cNvSpPr txBox="1"/>
          <p:nvPr/>
        </p:nvSpPr>
        <p:spPr>
          <a:xfrm>
            <a:off x="731520" y="2926080"/>
            <a:ext cx="9601200" cy="1097280"/>
          </a:xfrm>
          <a:prstGeom prst="rect">
            <a:avLst/>
          </a:prstGeom>
          <a:noFill/>
        </p:spPr>
        <p:txBody>
          <a:bodyPr wrap="square">
            <a:spAutoFit/>
          </a:bodyPr>
          <a:lstStyle/>
          <a:p>
            <a:pPr>
              <a:defRPr sz="1300">
                <a:solidFill>
                  <a:srgbClr val="94A3B8"/>
                </a:solidFill>
              </a:defRPr>
            </a:pPr>
            <a:r>
              <a:t>A multi-tenant enterprise operating system connecting 10 operational modules into one reactive MongoDB intelligence loop. Features deterministic financial analytics, authorized AI Copilot tool calling, vector-grounded RAG, and human-in-the-loop governance.</a:t>
            </a:r>
          </a:p>
        </p:txBody>
      </p:sp>
      <p:sp>
        <p:nvSpPr>
          <p:cNvPr id="6" name="Rounded Rectangle 5"/>
          <p:cNvSpPr/>
          <p:nvPr/>
        </p:nvSpPr>
        <p:spPr>
          <a:xfrm>
            <a:off x="731520" y="4297680"/>
            <a:ext cx="10728655"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480560"/>
            <a:ext cx="10149840" cy="1280160"/>
          </a:xfrm>
          <a:prstGeom prst="rect">
            <a:avLst/>
          </a:prstGeom>
          <a:noFill/>
        </p:spPr>
        <p:txBody>
          <a:bodyPr wrap="square">
            <a:spAutoFit/>
          </a:bodyPr>
          <a:lstStyle/>
          <a:p>
            <a:pPr>
              <a:defRPr sz="1000" b="1">
                <a:solidFill>
                  <a:srgbClr val="4F46E5"/>
                </a:solidFill>
              </a:defRPr>
            </a:pPr>
            <a:r>
              <a:t>PROJECT METADATA &amp; EVALUATION CREDENTIALS</a:t>
            </a:r>
          </a:p>
          <a:p>
            <a:pPr>
              <a:spcBef>
                <a:spcPts val="400"/>
              </a:spcBef>
              <a:defRPr sz="1200" b="1">
                <a:solidFill>
                  <a:srgbClr val="FFFFFF"/>
                </a:solidFill>
              </a:defRPr>
            </a:pPr>
            <a:r>
              <a:t>Candidate / Developer: Tooba Farhat  |  Evaluation: Senior MERN Stack + AI Engineering Specialist</a:t>
            </a:r>
          </a:p>
          <a:p>
            <a:pPr>
              <a:spcBef>
                <a:spcPts val="400"/>
              </a:spcBef>
              <a:defRPr sz="1100">
                <a:solidFill>
                  <a:srgbClr val="CBD5E1"/>
                </a:solidFill>
              </a:defRPr>
            </a:pPr>
            <a:r>
              <a:t>Core Technology Stack: MongoDB (Mongoose 8) • Express.js 4 • React 18 (Vite, TypeScript, Tailwind) • Node.js 22 • Google Gemini AI • RAG Vector Search</a:t>
            </a:r>
          </a:p>
          <a:p>
            <a:pPr>
              <a:spcBef>
                <a:spcPts val="400"/>
              </a:spcBef>
              <a:defRPr sz="1100" b="1">
                <a:solidFill>
                  <a:srgbClr val="10B981"/>
                </a:solidFill>
              </a:defRPr>
            </a:pPr>
            <a:r>
              <a:t>Production Cloud Deployment: Live on Render (Web Service + Static SPA) &amp; MongoDB Atlas (Replica 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1. EXECUTIVE PRODUCT SUMMARY</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Product Overview &amp; Core Value Proposition</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2 of 15</a:t>
            </a:r>
          </a:p>
        </p:txBody>
      </p:sp>
      <p:sp>
        <p:nvSpPr>
          <p:cNvPr id="6" name="Rounded Rectangle 5"/>
          <p:cNvSpPr/>
          <p:nvPr/>
        </p:nvSpPr>
        <p:spPr>
          <a:xfrm>
            <a:off x="731520" y="1371600"/>
            <a:ext cx="10728655" cy="109728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10362895" cy="320040"/>
          </a:xfrm>
          <a:prstGeom prst="rect">
            <a:avLst/>
          </a:prstGeom>
          <a:noFill/>
        </p:spPr>
        <p:txBody>
          <a:bodyPr wrap="square" lIns="0" tIns="0" rIns="0" bIns="0">
            <a:spAutoFit/>
          </a:bodyPr>
          <a:lstStyle/>
          <a:p>
            <a:pPr>
              <a:defRPr sz="1200" b="1">
                <a:solidFill>
                  <a:srgbClr val="4F46E5"/>
                </a:solidFill>
              </a:defRPr>
            </a:pPr>
            <a:r>
              <a:t>THE CLOSED-LOOP INTELLIGENCE ENGINE</a:t>
            </a:r>
          </a:p>
        </p:txBody>
      </p:sp>
      <p:sp>
        <p:nvSpPr>
          <p:cNvPr id="8" name="TextBox 7"/>
          <p:cNvSpPr txBox="1"/>
          <p:nvPr/>
        </p:nvSpPr>
        <p:spPr>
          <a:xfrm>
            <a:off x="914400" y="1783080"/>
            <a:ext cx="10332720" cy="594360"/>
          </a:xfrm>
          <a:prstGeom prst="rect">
            <a:avLst/>
          </a:prstGeom>
          <a:noFill/>
        </p:spPr>
        <p:txBody>
          <a:bodyPr wrap="square">
            <a:spAutoFit/>
          </a:bodyPr>
          <a:lstStyle/>
          <a:p>
            <a:pPr>
              <a:defRPr sz="1100" b="1">
                <a:solidFill>
                  <a:srgbClr val="0F172A"/>
                </a:solidFill>
              </a:defRPr>
            </a:pPr>
            <a:r>
              <a:t>Real Business Activity (CRM, Projects, Ledger, Feedback)  ➔  MongoDB Operational Schema  ➔  Deterministic Analytics (MRR, Health Index, OLS Runway)  ➔  AI Qualitative Reasoning  ➔  Human-in-the-Loop Confirmation  ➔  Automated Database Action</a:t>
            </a:r>
          </a:p>
        </p:txBody>
      </p:sp>
      <p:sp>
        <p:nvSpPr>
          <p:cNvPr id="9" name="Rounded Rectangle 8"/>
          <p:cNvSpPr/>
          <p:nvPr/>
        </p:nvSpPr>
        <p:spPr>
          <a:xfrm>
            <a:off x="731520" y="2651760"/>
            <a:ext cx="3413455"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16352"/>
            <a:ext cx="3047695" cy="320040"/>
          </a:xfrm>
          <a:prstGeom prst="rect">
            <a:avLst/>
          </a:prstGeom>
          <a:noFill/>
        </p:spPr>
        <p:txBody>
          <a:bodyPr wrap="square" lIns="0" tIns="0" rIns="0" bIns="0">
            <a:spAutoFit/>
          </a:bodyPr>
          <a:lstStyle/>
          <a:p>
            <a:pPr>
              <a:defRPr sz="1200" b="1">
                <a:solidFill>
                  <a:srgbClr val="2563EB"/>
                </a:solidFill>
              </a:defRPr>
            </a:pPr>
            <a:r>
              <a:t>CRM &amp; Lead Pipeline</a:t>
            </a:r>
          </a:p>
        </p:txBody>
      </p:sp>
      <p:sp>
        <p:nvSpPr>
          <p:cNvPr id="11" name="TextBox 10"/>
          <p:cNvSpPr txBox="1"/>
          <p:nvPr/>
        </p:nvSpPr>
        <p:spPr>
          <a:xfrm>
            <a:off x="914400" y="3154680"/>
            <a:ext cx="3047695" cy="960120"/>
          </a:xfrm>
          <a:prstGeom prst="rect">
            <a:avLst/>
          </a:prstGeom>
          <a:noFill/>
        </p:spPr>
        <p:txBody>
          <a:bodyPr wrap="square">
            <a:spAutoFit/>
          </a:bodyPr>
          <a:lstStyle/>
          <a:p>
            <a:pPr>
              <a:defRPr sz="1000">
                <a:solidFill>
                  <a:srgbClr val="64748B"/>
                </a:solidFill>
              </a:defRPr>
            </a:pPr>
            <a:r>
              <a:t>Kanban &amp; list pipeline, AI conversion propensity scoring (0-100), cold outreach generator, objection handling.</a:t>
            </a:r>
          </a:p>
        </p:txBody>
      </p:sp>
      <p:sp>
        <p:nvSpPr>
          <p:cNvPr id="12" name="Rounded Rectangle 11"/>
          <p:cNvSpPr/>
          <p:nvPr/>
        </p:nvSpPr>
        <p:spPr>
          <a:xfrm>
            <a:off x="4389120" y="2651760"/>
            <a:ext cx="3413455"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816352"/>
            <a:ext cx="3047695" cy="320040"/>
          </a:xfrm>
          <a:prstGeom prst="rect">
            <a:avLst/>
          </a:prstGeom>
          <a:noFill/>
        </p:spPr>
        <p:txBody>
          <a:bodyPr wrap="square" lIns="0" tIns="0" rIns="0" bIns="0">
            <a:spAutoFit/>
          </a:bodyPr>
          <a:lstStyle/>
          <a:p>
            <a:pPr>
              <a:defRPr sz="1200" b="1">
                <a:solidFill>
                  <a:srgbClr val="10B981"/>
                </a:solidFill>
              </a:defRPr>
            </a:pPr>
            <a:r>
              <a:t>Customer 360 &amp; Health</a:t>
            </a:r>
          </a:p>
        </p:txBody>
      </p:sp>
      <p:sp>
        <p:nvSpPr>
          <p:cNvPr id="14" name="TextBox 13"/>
          <p:cNvSpPr txBox="1"/>
          <p:nvPr/>
        </p:nvSpPr>
        <p:spPr>
          <a:xfrm>
            <a:off x="4572000" y="3154680"/>
            <a:ext cx="3047695" cy="960120"/>
          </a:xfrm>
          <a:prstGeom prst="rect">
            <a:avLst/>
          </a:prstGeom>
          <a:noFill/>
        </p:spPr>
        <p:txBody>
          <a:bodyPr wrap="square">
            <a:spAutoFit/>
          </a:bodyPr>
          <a:lstStyle/>
          <a:p>
            <a:pPr>
              <a:defRPr sz="1000">
                <a:solidFill>
                  <a:srgbClr val="64748B"/>
                </a:solidFill>
              </a:defRPr>
            </a:pPr>
            <a:r>
              <a:t>Account directories, churn risk classification, support ticket logs, customer sentiment analytics.</a:t>
            </a:r>
          </a:p>
        </p:txBody>
      </p:sp>
      <p:sp>
        <p:nvSpPr>
          <p:cNvPr id="15" name="Rounded Rectangle 14"/>
          <p:cNvSpPr/>
          <p:nvPr/>
        </p:nvSpPr>
        <p:spPr>
          <a:xfrm>
            <a:off x="8046720" y="2651760"/>
            <a:ext cx="3413455"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816352"/>
            <a:ext cx="3047695" cy="320040"/>
          </a:xfrm>
          <a:prstGeom prst="rect">
            <a:avLst/>
          </a:prstGeom>
          <a:noFill/>
        </p:spPr>
        <p:txBody>
          <a:bodyPr wrap="square" lIns="0" tIns="0" rIns="0" bIns="0">
            <a:spAutoFit/>
          </a:bodyPr>
          <a:lstStyle/>
          <a:p>
            <a:pPr>
              <a:defRPr sz="1200" b="1">
                <a:solidFill>
                  <a:srgbClr val="4F46E5"/>
                </a:solidFill>
              </a:defRPr>
            </a:pPr>
            <a:r>
              <a:t>Projects &amp; Tasks</a:t>
            </a:r>
          </a:p>
        </p:txBody>
      </p:sp>
      <p:sp>
        <p:nvSpPr>
          <p:cNvPr id="17" name="TextBox 16"/>
          <p:cNvSpPr txBox="1"/>
          <p:nvPr/>
        </p:nvSpPr>
        <p:spPr>
          <a:xfrm>
            <a:off x="8229600" y="3154680"/>
            <a:ext cx="3047695" cy="960120"/>
          </a:xfrm>
          <a:prstGeom prst="rect">
            <a:avLst/>
          </a:prstGeom>
          <a:noFill/>
        </p:spPr>
        <p:txBody>
          <a:bodyPr wrap="square">
            <a:spAutoFit/>
          </a:bodyPr>
          <a:lstStyle/>
          <a:p>
            <a:pPr>
              <a:defRPr sz="1000">
                <a:solidFill>
                  <a:srgbClr val="64748B"/>
                </a:solidFill>
              </a:defRPr>
            </a:pPr>
            <a:r>
              <a:t>Milestones, sprint stages, and AI Project Planner Wizard with human-in-the-loop approval.</a:t>
            </a:r>
          </a:p>
        </p:txBody>
      </p:sp>
      <p:sp>
        <p:nvSpPr>
          <p:cNvPr id="18" name="Rounded Rectangle 17"/>
          <p:cNvSpPr/>
          <p:nvPr/>
        </p:nvSpPr>
        <p:spPr>
          <a:xfrm>
            <a:off x="731520" y="4434840"/>
            <a:ext cx="3413455"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99432"/>
            <a:ext cx="3047695" cy="320040"/>
          </a:xfrm>
          <a:prstGeom prst="rect">
            <a:avLst/>
          </a:prstGeom>
          <a:noFill/>
        </p:spPr>
        <p:txBody>
          <a:bodyPr wrap="square" lIns="0" tIns="0" rIns="0" bIns="0">
            <a:spAutoFit/>
          </a:bodyPr>
          <a:lstStyle/>
          <a:p>
            <a:pPr>
              <a:defRPr sz="1200" b="1">
                <a:solidFill>
                  <a:srgbClr val="7C3AED"/>
                </a:solidFill>
              </a:defRPr>
            </a:pPr>
            <a:r>
              <a:t>FP&amp;A &amp; Financial Runway</a:t>
            </a:r>
          </a:p>
        </p:txBody>
      </p:sp>
      <p:sp>
        <p:nvSpPr>
          <p:cNvPr id="20" name="TextBox 19"/>
          <p:cNvSpPr txBox="1"/>
          <p:nvPr/>
        </p:nvSpPr>
        <p:spPr>
          <a:xfrm>
            <a:off x="914400" y="4937760"/>
            <a:ext cx="3047695" cy="960120"/>
          </a:xfrm>
          <a:prstGeom prst="rect">
            <a:avLst/>
          </a:prstGeom>
          <a:noFill/>
        </p:spPr>
        <p:txBody>
          <a:bodyPr wrap="square">
            <a:spAutoFit/>
          </a:bodyPr>
          <a:lstStyle/>
          <a:p>
            <a:pPr>
              <a:defRPr sz="1000">
                <a:solidFill>
                  <a:srgbClr val="64748B"/>
                </a:solidFill>
              </a:defRPr>
            </a:pPr>
            <a:r>
              <a:t>Transaction ledger, MRR/burn accounting, and 30/60/90-day predictive linear cashflow forecasting.</a:t>
            </a:r>
          </a:p>
        </p:txBody>
      </p:sp>
      <p:sp>
        <p:nvSpPr>
          <p:cNvPr id="21" name="Rounded Rectangle 20"/>
          <p:cNvSpPr/>
          <p:nvPr/>
        </p:nvSpPr>
        <p:spPr>
          <a:xfrm>
            <a:off x="4389120" y="4434840"/>
            <a:ext cx="3413455"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4599432"/>
            <a:ext cx="3047695" cy="320040"/>
          </a:xfrm>
          <a:prstGeom prst="rect">
            <a:avLst/>
          </a:prstGeom>
          <a:noFill/>
        </p:spPr>
        <p:txBody>
          <a:bodyPr wrap="square" lIns="0" tIns="0" rIns="0" bIns="0">
            <a:spAutoFit/>
          </a:bodyPr>
          <a:lstStyle/>
          <a:p>
            <a:pPr>
              <a:defRPr sz="1200" b="1">
                <a:solidFill>
                  <a:srgbClr val="F59E0B"/>
                </a:solidFill>
              </a:defRPr>
            </a:pPr>
            <a:r>
              <a:t>Document RAG Intelligence</a:t>
            </a:r>
          </a:p>
        </p:txBody>
      </p:sp>
      <p:sp>
        <p:nvSpPr>
          <p:cNvPr id="23" name="TextBox 22"/>
          <p:cNvSpPr txBox="1"/>
          <p:nvPr/>
        </p:nvSpPr>
        <p:spPr>
          <a:xfrm>
            <a:off x="4572000" y="4937760"/>
            <a:ext cx="3047695" cy="960120"/>
          </a:xfrm>
          <a:prstGeom prst="rect">
            <a:avLst/>
          </a:prstGeom>
          <a:noFill/>
        </p:spPr>
        <p:txBody>
          <a:bodyPr wrap="square">
            <a:spAutoFit/>
          </a:bodyPr>
          <a:lstStyle/>
          <a:p>
            <a:pPr>
              <a:defRPr sz="1000">
                <a:solidFill>
                  <a:srgbClr val="64748B"/>
                </a:solidFill>
              </a:defRPr>
            </a:pPr>
            <a:r>
              <a:t>Vector indexing for PDF, DOCX, CSV, TXT. Semantic question answering with source citations.</a:t>
            </a:r>
          </a:p>
        </p:txBody>
      </p:sp>
      <p:sp>
        <p:nvSpPr>
          <p:cNvPr id="24" name="Rounded Rectangle 23"/>
          <p:cNvSpPr/>
          <p:nvPr/>
        </p:nvSpPr>
        <p:spPr>
          <a:xfrm>
            <a:off x="8046720" y="4434840"/>
            <a:ext cx="3413455"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4599432"/>
            <a:ext cx="3047695" cy="320040"/>
          </a:xfrm>
          <a:prstGeom prst="rect">
            <a:avLst/>
          </a:prstGeom>
          <a:noFill/>
        </p:spPr>
        <p:txBody>
          <a:bodyPr wrap="square" lIns="0" tIns="0" rIns="0" bIns="0">
            <a:spAutoFit/>
          </a:bodyPr>
          <a:lstStyle/>
          <a:p>
            <a:pPr>
              <a:defRPr sz="1200" b="1">
                <a:solidFill>
                  <a:srgbClr val="EF4444"/>
                </a:solidFill>
              </a:defRPr>
            </a:pPr>
            <a:r>
              <a:t>AI Business Copilot</a:t>
            </a:r>
          </a:p>
        </p:txBody>
      </p:sp>
      <p:sp>
        <p:nvSpPr>
          <p:cNvPr id="26" name="TextBox 25"/>
          <p:cNvSpPr txBox="1"/>
          <p:nvPr/>
        </p:nvSpPr>
        <p:spPr>
          <a:xfrm>
            <a:off x="8229600" y="4937760"/>
            <a:ext cx="3047695" cy="960120"/>
          </a:xfrm>
          <a:prstGeom prst="rect">
            <a:avLst/>
          </a:prstGeom>
          <a:noFill/>
        </p:spPr>
        <p:txBody>
          <a:bodyPr wrap="square">
            <a:spAutoFit/>
          </a:bodyPr>
          <a:lstStyle/>
          <a:p>
            <a:pPr>
              <a:defRPr sz="1000">
                <a:solidFill>
                  <a:srgbClr val="64748B"/>
                </a:solidFill>
              </a:defRPr>
            </a:pPr>
            <a:r>
              <a:t>Context-aware floating assistant equipped with 10 bounded inspection tools &amp; action proposal cards.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2. PROBLEM &amp; WORKFLOW ANALYSIS</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Problem Statement &amp; Cross-Module Intelligence</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3 of 15</a:t>
            </a:r>
          </a:p>
        </p:txBody>
      </p:sp>
      <p:sp>
        <p:nvSpPr>
          <p:cNvPr id="6" name="Rounded Rectangle 5"/>
          <p:cNvSpPr/>
          <p:nvPr/>
        </p:nvSpPr>
        <p:spPr>
          <a:xfrm>
            <a:off x="731520" y="137160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4754880" cy="320040"/>
          </a:xfrm>
          <a:prstGeom prst="rect">
            <a:avLst/>
          </a:prstGeom>
          <a:noFill/>
        </p:spPr>
        <p:txBody>
          <a:bodyPr wrap="square" lIns="0" tIns="0" rIns="0" bIns="0">
            <a:spAutoFit/>
          </a:bodyPr>
          <a:lstStyle/>
          <a:p>
            <a:pPr>
              <a:defRPr sz="1200" b="1">
                <a:solidFill>
                  <a:srgbClr val="EF4444"/>
                </a:solidFill>
              </a:defRPr>
            </a:pPr>
            <a:r>
              <a:t>The Modern SaaS Problem</a:t>
            </a:r>
          </a:p>
        </p:txBody>
      </p:sp>
      <p:sp>
        <p:nvSpPr>
          <p:cNvPr id="8" name="TextBox 7"/>
          <p:cNvSpPr txBox="1"/>
          <p:nvPr/>
        </p:nvSpPr>
        <p:spPr>
          <a:xfrm>
            <a:off x="914400" y="1828800"/>
            <a:ext cx="4754880" cy="4114800"/>
          </a:xfrm>
          <a:prstGeom prst="rect">
            <a:avLst/>
          </a:prstGeom>
          <a:noFill/>
        </p:spPr>
        <p:txBody>
          <a:bodyPr wrap="square">
            <a:spAutoFit/>
          </a:bodyPr>
          <a:lstStyle/>
          <a:p>
            <a:pPr>
              <a:defRPr sz="1000" b="1">
                <a:solidFill>
                  <a:srgbClr val="0F172A"/>
                </a:solidFill>
              </a:defRPr>
            </a:pPr>
            <a:r>
              <a:t>• Fragmented Operational Silos: </a:t>
            </a:r>
            <a:r>
              <a:rPr b="0">
                <a:solidFill>
                  <a:srgbClr val="64748B"/>
                </a:solidFill>
              </a:rPr>
              <a:t>Sales teams use CRM, engineers use Jira, finance uses spreadsheets, and support uses Zendesk. Zero shared contextual visibility.</a:t>
            </a:r>
          </a:p>
          <a:p>
            <a:pPr>
              <a:spcBef>
                <a:spcPts val="800"/>
              </a:spcBef>
              <a:defRPr sz="1000" b="1">
                <a:solidFill>
                  <a:srgbClr val="0F172A"/>
                </a:solidFill>
              </a:defRPr>
            </a:pPr>
            <a:r>
              <a:t>• Silent Customer Churn Risks: </a:t>
            </a:r>
            <a:r>
              <a:rPr b="0">
                <a:solidFill>
                  <a:srgbClr val="64748B"/>
                </a:solidFill>
              </a:rPr>
              <a:t>Support dissatisfaction signals are buried in tickets while sales teams blindly invest time pitching renewals to churn risks.</a:t>
            </a:r>
          </a:p>
          <a:p>
            <a:pPr>
              <a:spcBef>
                <a:spcPts val="800"/>
              </a:spcBef>
              <a:defRPr sz="1000" b="1">
                <a:solidFill>
                  <a:srgbClr val="0F172A"/>
                </a:solidFill>
              </a:defRPr>
            </a:pPr>
            <a:r>
              <a:t>• LLM Arithmetic Hallucinations: </a:t>
            </a:r>
            <a:r>
              <a:rPr b="0">
                <a:solidFill>
                  <a:srgbClr val="64748B"/>
                </a:solidFill>
              </a:rPr>
              <a:t>Generic AI chatbots invent inaccurate revenue numbers, burn rates, and financial metrics when asked business questions.</a:t>
            </a:r>
          </a:p>
          <a:p>
            <a:pPr>
              <a:spcBef>
                <a:spcPts val="800"/>
              </a:spcBef>
              <a:defRPr sz="1000" b="1">
                <a:solidFill>
                  <a:srgbClr val="0F172A"/>
                </a:solidFill>
              </a:defRPr>
            </a:pPr>
            <a:r>
              <a:t>• Uncontrolled Autonomous AI Actions: </a:t>
            </a:r>
            <a:r>
              <a:rPr b="0">
                <a:solidFill>
                  <a:srgbClr val="64748B"/>
                </a:solidFill>
              </a:rPr>
              <a:t>Autonomous agents executing unverified database writes risk catastrophic data corruption or customer spam.</a:t>
            </a:r>
          </a:p>
          <a:p>
            <a:pPr>
              <a:spcBef>
                <a:spcPts val="800"/>
              </a:spcBef>
              <a:defRPr sz="1000" b="1">
                <a:solidFill>
                  <a:srgbClr val="0F172A"/>
                </a:solidFill>
              </a:defRPr>
            </a:pPr>
            <a:r>
              <a:t>• Manual Analysis Overhead: </a:t>
            </a:r>
            <a:r>
              <a:rPr b="0">
                <a:solidFill>
                  <a:srgbClr val="64748B"/>
                </a:solidFill>
              </a:rPr>
              <a:t>Founders spend hours compiling spreadsheets instead of making strategic decisions based on automated cross-module risk correlation.</a:t>
            </a:r>
          </a:p>
        </p:txBody>
      </p:sp>
      <p:sp>
        <p:nvSpPr>
          <p:cNvPr id="9" name="Rounded Rectangle 8"/>
          <p:cNvSpPr/>
          <p:nvPr/>
        </p:nvSpPr>
        <p:spPr>
          <a:xfrm>
            <a:off x="6217920" y="1371600"/>
            <a:ext cx="524225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36192"/>
            <a:ext cx="4876495" cy="320040"/>
          </a:xfrm>
          <a:prstGeom prst="rect">
            <a:avLst/>
          </a:prstGeom>
          <a:noFill/>
        </p:spPr>
        <p:txBody>
          <a:bodyPr wrap="square" lIns="0" tIns="0" rIns="0" bIns="0">
            <a:spAutoFit/>
          </a:bodyPr>
          <a:lstStyle/>
          <a:p>
            <a:pPr>
              <a:defRPr sz="1200" b="1">
                <a:solidFill>
                  <a:srgbClr val="10B981"/>
                </a:solidFill>
              </a:defRPr>
            </a:pPr>
            <a:r>
              <a:t>Verified Solution: The Negative Feedback Workflow</a:t>
            </a:r>
          </a:p>
        </p:txBody>
      </p:sp>
      <p:sp>
        <p:nvSpPr>
          <p:cNvPr id="11" name="TextBox 10"/>
          <p:cNvSpPr txBox="1"/>
          <p:nvPr/>
        </p:nvSpPr>
        <p:spPr>
          <a:xfrm>
            <a:off x="6400800" y="1828800"/>
            <a:ext cx="4876495" cy="4114800"/>
          </a:xfrm>
          <a:prstGeom prst="rect">
            <a:avLst/>
          </a:prstGeom>
          <a:noFill/>
        </p:spPr>
        <p:txBody>
          <a:bodyPr wrap="square">
            <a:spAutoFit/>
          </a:bodyPr>
          <a:lstStyle/>
          <a:p>
            <a:pPr>
              <a:defRPr sz="1000" b="1">
                <a:solidFill>
                  <a:srgbClr val="4F46E5"/>
                </a:solidFill>
              </a:defRPr>
            </a:pPr>
            <a:r>
              <a:t>1. Feedback Ingested</a:t>
            </a:r>
            <a:br/>
            <a:r>
              <a:rPr sz="950" b="0">
                <a:solidFill>
                  <a:srgbClr val="64748B"/>
                </a:solidFill>
              </a:rPr>
              <a:t>Customer logs negative feedback: 'Billing double-charge and portal slow'. Stored in MongoDB Feedback collection.</a:t>
            </a:r>
          </a:p>
          <a:p>
            <a:pPr>
              <a:spcBef>
                <a:spcPts val="600"/>
              </a:spcBef>
              <a:defRPr sz="1000" b="1">
                <a:solidFill>
                  <a:srgbClr val="4F46E5"/>
                </a:solidFill>
              </a:defRPr>
            </a:pPr>
            <a:r>
              <a:t>2. Real-Time NLP Scoring</a:t>
            </a:r>
            <a:br/>
            <a:r>
              <a:rPr sz="950" b="0">
                <a:solidFill>
                  <a:srgbClr val="64748B"/>
                </a:solidFill>
              </a:rPr>
              <a:t>Rule-based &amp; AI sentiment analyzer classifies sentiment as 'Negative', urgency as 'Urgent', category as 'Billing'.</a:t>
            </a:r>
          </a:p>
          <a:p>
            <a:pPr>
              <a:spcBef>
                <a:spcPts val="600"/>
              </a:spcBef>
              <a:defRPr sz="1000" b="1">
                <a:solidFill>
                  <a:srgbClr val="4F46E5"/>
                </a:solidFill>
              </a:defRPr>
            </a:pPr>
            <a:r>
              <a:t>3. Customer Health &amp; Churn Impact</a:t>
            </a:r>
            <a:br/>
            <a:r>
              <a:rPr sz="950" b="0">
                <a:solidFill>
                  <a:srgbClr val="64748B"/>
                </a:solidFill>
              </a:rPr>
              <a:t>Deterministic health algorithm reduces customer score from 85 to 45 ('At-Risk'). Churn probability flagged as High.</a:t>
            </a:r>
          </a:p>
          <a:p>
            <a:pPr>
              <a:spcBef>
                <a:spcPts val="600"/>
              </a:spcBef>
              <a:defRPr sz="1000" b="1">
                <a:solidFill>
                  <a:srgbClr val="4F46E5"/>
                </a:solidFill>
              </a:defRPr>
            </a:pPr>
            <a:r>
              <a:t>4. Cross-Module Risk Trigger</a:t>
            </a:r>
            <a:br/>
            <a:r>
              <a:rPr sz="950" b="0">
                <a:solidFill>
                  <a:srgbClr val="64748B"/>
                </a:solidFill>
              </a:rPr>
              <a:t>Cross-Module Risk Engine correlates churn spike with overdue engineering tasks, generating an executive alert.</a:t>
            </a:r>
          </a:p>
          <a:p>
            <a:pPr>
              <a:spcBef>
                <a:spcPts val="600"/>
              </a:spcBef>
              <a:defRPr sz="1000" b="1">
                <a:solidFill>
                  <a:srgbClr val="4F46E5"/>
                </a:solidFill>
              </a:defRPr>
            </a:pPr>
            <a:r>
              <a:t>5. Bounded Copilot Action Proposal</a:t>
            </a:r>
            <a:br/>
            <a:r>
              <a:rPr sz="950" b="0">
                <a:solidFill>
                  <a:srgbClr val="64748B"/>
                </a:solidFill>
              </a:rPr>
              <a:t>AI Copilot synthesizes context and generates a structured Action Proposal card: 'Create P0 Billing Remediation Task'.</a:t>
            </a:r>
          </a:p>
          <a:p>
            <a:pPr>
              <a:spcBef>
                <a:spcPts val="600"/>
              </a:spcBef>
              <a:defRPr sz="1000" b="1">
                <a:solidFill>
                  <a:srgbClr val="4F46E5"/>
                </a:solidFill>
              </a:defRPr>
            </a:pPr>
            <a:r>
              <a:t>6. 1-Click Human Approval</a:t>
            </a:r>
            <a:br/>
            <a:r>
              <a:rPr sz="950" b="0">
                <a:solidFill>
                  <a:srgbClr val="64748B"/>
                </a:solidFill>
              </a:rPr>
              <a:t>Workspace Manager reviews and approves proposal. Task is instantiated directly into Projects Kanban.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3. TECHNICAL ARCHITECTURE</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Full-Stack System Architecture &amp; C4 Flow</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4 of 15</a:t>
            </a:r>
          </a:p>
        </p:txBody>
      </p:sp>
      <p:sp>
        <p:nvSpPr>
          <p:cNvPr id="6" name="Rounded Rectangle 5"/>
          <p:cNvSpPr/>
          <p:nvPr/>
        </p:nvSpPr>
        <p:spPr>
          <a:xfrm>
            <a:off x="731520" y="1371600"/>
            <a:ext cx="32918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2926080" cy="320040"/>
          </a:xfrm>
          <a:prstGeom prst="rect">
            <a:avLst/>
          </a:prstGeom>
          <a:noFill/>
        </p:spPr>
        <p:txBody>
          <a:bodyPr wrap="square" lIns="0" tIns="0" rIns="0" bIns="0">
            <a:spAutoFit/>
          </a:bodyPr>
          <a:lstStyle/>
          <a:p>
            <a:pPr>
              <a:defRPr sz="1200" b="1">
                <a:solidFill>
                  <a:srgbClr val="2563EB"/>
                </a:solidFill>
              </a:defRPr>
            </a:pPr>
            <a:r>
              <a:t>Client Tier (React 18 + Vite)</a:t>
            </a:r>
          </a:p>
        </p:txBody>
      </p:sp>
      <p:sp>
        <p:nvSpPr>
          <p:cNvPr id="8" name="TextBox 7"/>
          <p:cNvSpPr txBox="1"/>
          <p:nvPr/>
        </p:nvSpPr>
        <p:spPr>
          <a:xfrm>
            <a:off x="914400" y="1874520"/>
            <a:ext cx="2926080" cy="4114800"/>
          </a:xfrm>
          <a:prstGeom prst="rect">
            <a:avLst/>
          </a:prstGeom>
          <a:noFill/>
        </p:spPr>
        <p:txBody>
          <a:bodyPr wrap="square">
            <a:spAutoFit/>
          </a:bodyPr>
          <a:lstStyle/>
          <a:p>
            <a:pPr>
              <a:defRPr sz="950" b="1">
                <a:solidFill>
                  <a:srgbClr val="0F172A"/>
                </a:solidFill>
              </a:defRPr>
            </a:pPr>
            <a:r>
              <a:t>• SPA Routing: </a:t>
            </a:r>
            <a:r>
              <a:rPr b="0">
                <a:solidFill>
                  <a:srgbClr val="64748B"/>
                </a:solidFill>
              </a:rPr>
              <a:t>React Router 6 with protected Auth &amp; Workspace boundaries and /index.html rewrites.</a:t>
            </a:r>
          </a:p>
          <a:p>
            <a:pPr>
              <a:spcBef>
                <a:spcPts val="600"/>
              </a:spcBef>
              <a:defRPr sz="950" b="1">
                <a:solidFill>
                  <a:srgbClr val="0F172A"/>
                </a:solidFill>
              </a:defRPr>
            </a:pPr>
            <a:r>
              <a:t>• State Management: </a:t>
            </a:r>
            <a:r>
              <a:rPr b="0">
                <a:solidFill>
                  <a:srgbClr val="64748B"/>
                </a:solidFill>
              </a:rPr>
              <a:t>TanStack React Query for cached server state + Context API for Auth and Themes.</a:t>
            </a:r>
          </a:p>
          <a:p>
            <a:pPr>
              <a:spcBef>
                <a:spcPts val="600"/>
              </a:spcBef>
              <a:defRPr sz="950" b="1">
                <a:solidFill>
                  <a:srgbClr val="0F172A"/>
                </a:solidFill>
              </a:defRPr>
            </a:pPr>
            <a:r>
              <a:t>• AI Floating Drawer: </a:t>
            </a:r>
            <a:r>
              <a:rPr b="0">
                <a:solidFill>
                  <a:srgbClr val="64748B"/>
                </a:solidFill>
              </a:rPr>
              <a:t>Global Copilot drawer executing context-aware inspection across current route.</a:t>
            </a:r>
          </a:p>
          <a:p>
            <a:pPr>
              <a:spcBef>
                <a:spcPts val="600"/>
              </a:spcBef>
              <a:defRPr sz="950" b="1">
                <a:solidFill>
                  <a:srgbClr val="0F172A"/>
                </a:solidFill>
              </a:defRPr>
            </a:pPr>
            <a:r>
              <a:t>• Approval Modals: </a:t>
            </a:r>
            <a:r>
              <a:rPr b="0">
                <a:solidFill>
                  <a:srgbClr val="64748B"/>
                </a:solidFill>
              </a:rPr>
              <a:t>Human-in-the-loop action proposal cards with diff review before execution.</a:t>
            </a:r>
          </a:p>
          <a:p>
            <a:pPr>
              <a:spcBef>
                <a:spcPts val="600"/>
              </a:spcBef>
              <a:defRPr sz="950" b="1">
                <a:solidFill>
                  <a:srgbClr val="0F172A"/>
                </a:solidFill>
              </a:defRPr>
            </a:pPr>
            <a:r>
              <a:t>• UI Component Library: </a:t>
            </a:r>
            <a:r>
              <a:rPr b="0">
                <a:solidFill>
                  <a:srgbClr val="64748B"/>
                </a:solidFill>
              </a:rPr>
              <a:t>Modular Tailwind CSS components, Lucide icons, and Recharts interactive graphs.</a:t>
            </a:r>
          </a:p>
        </p:txBody>
      </p:sp>
      <p:sp>
        <p:nvSpPr>
          <p:cNvPr id="9" name="Rounded Rectangle 8"/>
          <p:cNvSpPr/>
          <p:nvPr/>
        </p:nvSpPr>
        <p:spPr>
          <a:xfrm>
            <a:off x="4297680" y="1371600"/>
            <a:ext cx="356616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536192"/>
            <a:ext cx="3200400" cy="320040"/>
          </a:xfrm>
          <a:prstGeom prst="rect">
            <a:avLst/>
          </a:prstGeom>
          <a:noFill/>
        </p:spPr>
        <p:txBody>
          <a:bodyPr wrap="square" lIns="0" tIns="0" rIns="0" bIns="0">
            <a:spAutoFit/>
          </a:bodyPr>
          <a:lstStyle/>
          <a:p>
            <a:pPr>
              <a:defRPr sz="1200" b="1">
                <a:solidFill>
                  <a:srgbClr val="4F46E5"/>
                </a:solidFill>
              </a:defRPr>
            </a:pPr>
            <a:r>
              <a:t>API &amp; Gateway Tier (Express + TS)</a:t>
            </a:r>
          </a:p>
        </p:txBody>
      </p:sp>
      <p:sp>
        <p:nvSpPr>
          <p:cNvPr id="11" name="TextBox 10"/>
          <p:cNvSpPr txBox="1"/>
          <p:nvPr/>
        </p:nvSpPr>
        <p:spPr>
          <a:xfrm>
            <a:off x="4480560" y="1874520"/>
            <a:ext cx="3200400" cy="4114800"/>
          </a:xfrm>
          <a:prstGeom prst="rect">
            <a:avLst/>
          </a:prstGeom>
          <a:noFill/>
        </p:spPr>
        <p:txBody>
          <a:bodyPr wrap="square">
            <a:spAutoFit/>
          </a:bodyPr>
          <a:lstStyle/>
          <a:p>
            <a:pPr>
              <a:defRPr sz="950" b="1">
                <a:solidFill>
                  <a:srgbClr val="0F172A"/>
                </a:solidFill>
              </a:defRPr>
            </a:pPr>
            <a:r>
              <a:t>• Security Gateway: </a:t>
            </a:r>
            <a:r>
              <a:rPr b="0">
                <a:solidFill>
                  <a:srgbClr val="64748B"/>
                </a:solidFill>
              </a:rPr>
              <a:t>Helmet HTTP security headers, CORS origin filtering, and Express Rate Limiter.</a:t>
            </a:r>
          </a:p>
          <a:p>
            <a:pPr>
              <a:spcBef>
                <a:spcPts val="600"/>
              </a:spcBef>
              <a:defRPr sz="950" b="1">
                <a:solidFill>
                  <a:srgbClr val="0F172A"/>
                </a:solidFill>
              </a:defRPr>
            </a:pPr>
            <a:r>
              <a:t>• Session &amp; Tenant Auth: </a:t>
            </a:r>
            <a:r>
              <a:rPr b="0">
                <a:solidFill>
                  <a:srgbClr val="64748B"/>
                </a:solidFill>
              </a:rPr>
              <a:t>JWT bearer token authentication + resolveWorkspace tenant scoping middleware.</a:t>
            </a:r>
          </a:p>
          <a:p>
            <a:pPr>
              <a:spcBef>
                <a:spcPts val="600"/>
              </a:spcBef>
              <a:defRPr sz="950" b="1">
                <a:solidFill>
                  <a:srgbClr val="0F172A"/>
                </a:solidFill>
              </a:defRPr>
            </a:pPr>
            <a:r>
              <a:t>• Deterministic Engines: </a:t>
            </a:r>
            <a:r>
              <a:rPr b="0">
                <a:solidFill>
                  <a:srgbClr val="64748B"/>
                </a:solidFill>
              </a:rPr>
              <a:t>Financial analytics, 5-Dimension Business Health calculator, OLS regression.</a:t>
            </a:r>
          </a:p>
          <a:p>
            <a:pPr>
              <a:spcBef>
                <a:spcPts val="600"/>
              </a:spcBef>
              <a:defRPr sz="950" b="1">
                <a:solidFill>
                  <a:srgbClr val="0F172A"/>
                </a:solidFill>
              </a:defRPr>
            </a:pPr>
            <a:r>
              <a:t>• AI Orchestration Layer: </a:t>
            </a:r>
            <a:r>
              <a:rPr b="0">
                <a:solidFill>
                  <a:srgbClr val="64748B"/>
                </a:solidFill>
              </a:rPr>
              <a:t>Pluggable provider engine (Gemini, OpenAI, Mock) with token/cost tracking.</a:t>
            </a:r>
          </a:p>
          <a:p>
            <a:pPr>
              <a:spcBef>
                <a:spcPts val="600"/>
              </a:spcBef>
              <a:defRPr sz="950" b="1">
                <a:solidFill>
                  <a:srgbClr val="0F172A"/>
                </a:solidFill>
              </a:defRPr>
            </a:pPr>
            <a:r>
              <a:t>• Audit &amp; Event Subsystem: </a:t>
            </a:r>
            <a:r>
              <a:rPr b="0">
                <a:solidFill>
                  <a:srgbClr val="64748B"/>
                </a:solidFill>
              </a:rPr>
              <a:t>Synchronous mutation logging in AuditLog and event-driven automation rules.</a:t>
            </a:r>
          </a:p>
        </p:txBody>
      </p:sp>
      <p:sp>
        <p:nvSpPr>
          <p:cNvPr id="12" name="Rounded Rectangle 11"/>
          <p:cNvSpPr/>
          <p:nvPr/>
        </p:nvSpPr>
        <p:spPr>
          <a:xfrm>
            <a:off x="8138160" y="1371600"/>
            <a:ext cx="32918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536192"/>
            <a:ext cx="2926080" cy="320040"/>
          </a:xfrm>
          <a:prstGeom prst="rect">
            <a:avLst/>
          </a:prstGeom>
          <a:noFill/>
        </p:spPr>
        <p:txBody>
          <a:bodyPr wrap="square" lIns="0" tIns="0" rIns="0" bIns="0">
            <a:spAutoFit/>
          </a:bodyPr>
          <a:lstStyle/>
          <a:p>
            <a:pPr>
              <a:defRPr sz="1200" b="1">
                <a:solidFill>
                  <a:srgbClr val="10B981"/>
                </a:solidFill>
              </a:defRPr>
            </a:pPr>
            <a:r>
              <a:t>Data &amp; Infrastructure Tier</a:t>
            </a:r>
          </a:p>
        </p:txBody>
      </p:sp>
      <p:sp>
        <p:nvSpPr>
          <p:cNvPr id="14" name="TextBox 13"/>
          <p:cNvSpPr txBox="1"/>
          <p:nvPr/>
        </p:nvSpPr>
        <p:spPr>
          <a:xfrm>
            <a:off x="8321040" y="1874520"/>
            <a:ext cx="2926080" cy="4114800"/>
          </a:xfrm>
          <a:prstGeom prst="rect">
            <a:avLst/>
          </a:prstGeom>
          <a:noFill/>
        </p:spPr>
        <p:txBody>
          <a:bodyPr wrap="square">
            <a:spAutoFit/>
          </a:bodyPr>
          <a:lstStyle/>
          <a:p>
            <a:pPr>
              <a:defRPr sz="950" b="1">
                <a:solidFill>
                  <a:srgbClr val="0F172A"/>
                </a:solidFill>
              </a:defRPr>
            </a:pPr>
            <a:r>
              <a:t>• MongoDB Atlas Cluster: </a:t>
            </a:r>
            <a:r>
              <a:rPr b="0">
                <a:solidFill>
                  <a:srgbClr val="64748B"/>
                </a:solidFill>
              </a:rPr>
              <a:t>Replica Set (M0) hosting 20 compound-indexed Mongoose schemas with TLS 1.3.</a:t>
            </a:r>
          </a:p>
          <a:p>
            <a:pPr>
              <a:spcBef>
                <a:spcPts val="600"/>
              </a:spcBef>
              <a:defRPr sz="950" b="1">
                <a:solidFill>
                  <a:srgbClr val="0F172A"/>
                </a:solidFill>
              </a:defRPr>
            </a:pPr>
            <a:r>
              <a:t>• RAG Vector Storage: </a:t>
            </a:r>
            <a:r>
              <a:rPr b="0">
                <a:solidFill>
                  <a:srgbClr val="64748B"/>
                </a:solidFill>
              </a:rPr>
              <a:t>Document chunks indexed with 768-dim embeddings and cosine similarity search.</a:t>
            </a:r>
          </a:p>
          <a:p>
            <a:pPr>
              <a:spcBef>
                <a:spcPts val="600"/>
              </a:spcBef>
              <a:defRPr sz="950" b="1">
                <a:solidFill>
                  <a:srgbClr val="0F172A"/>
                </a:solidFill>
              </a:defRPr>
            </a:pPr>
            <a:r>
              <a:t>• File Asset Storage: </a:t>
            </a:r>
            <a:r>
              <a:rPr b="0">
                <a:solidFill>
                  <a:srgbClr val="64748B"/>
                </a:solidFill>
              </a:rPr>
              <a:t>Local / Render persistent disk storage with MIME and 15MB file size validation.</a:t>
            </a:r>
          </a:p>
          <a:p>
            <a:pPr>
              <a:spcBef>
                <a:spcPts val="600"/>
              </a:spcBef>
              <a:defRPr sz="950" b="1">
                <a:solidFill>
                  <a:srgbClr val="0F172A"/>
                </a:solidFill>
              </a:defRPr>
            </a:pPr>
            <a:r>
              <a:t>• Cloud Hosting on Render: </a:t>
            </a:r>
            <a:r>
              <a:rPr b="0">
                <a:solidFill>
                  <a:srgbClr val="64748B"/>
                </a:solidFill>
              </a:rPr>
              <a:t>Backend Web Service (Node 22) + Frontend Static Site with zero sleep lag.</a:t>
            </a:r>
          </a:p>
          <a:p>
            <a:pPr>
              <a:spcBef>
                <a:spcPts val="600"/>
              </a:spcBef>
              <a:defRPr sz="950" b="1">
                <a:solidFill>
                  <a:srgbClr val="0F172A"/>
                </a:solidFill>
              </a:defRPr>
            </a:pPr>
            <a:r>
              <a:t>• Planned Redis/BullMQ: </a:t>
            </a:r>
            <a:r>
              <a:rPr b="0">
                <a:solidFill>
                  <a:srgbClr val="64748B"/>
                </a:solidFill>
              </a:rPr>
              <a:t>Target architecture for async bulk document vectorization and email scheduling.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4. DATA MODEL &amp; MULTI-TENANCY</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MongoDB Database Design &amp; Strict Multi-Tenancy</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5 of 15</a:t>
            </a:r>
          </a:p>
        </p:txBody>
      </p:sp>
      <p:sp>
        <p:nvSpPr>
          <p:cNvPr id="6" name="Rounded Rectangle 5"/>
          <p:cNvSpPr/>
          <p:nvPr/>
        </p:nvSpPr>
        <p:spPr>
          <a:xfrm>
            <a:off x="731520" y="137160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4754880" cy="320040"/>
          </a:xfrm>
          <a:prstGeom prst="rect">
            <a:avLst/>
          </a:prstGeom>
          <a:noFill/>
        </p:spPr>
        <p:txBody>
          <a:bodyPr wrap="square" lIns="0" tIns="0" rIns="0" bIns="0">
            <a:spAutoFit/>
          </a:bodyPr>
          <a:lstStyle/>
          <a:p>
            <a:pPr>
              <a:defRPr sz="1200" b="1">
                <a:solidFill>
                  <a:srgbClr val="4F46E5"/>
                </a:solidFill>
              </a:defRPr>
            </a:pPr>
            <a:r>
              <a:t>Multi-Tenant Isolation Architecture</a:t>
            </a:r>
          </a:p>
        </p:txBody>
      </p:sp>
      <p:sp>
        <p:nvSpPr>
          <p:cNvPr id="8" name="TextBox 7"/>
          <p:cNvSpPr txBox="1"/>
          <p:nvPr/>
        </p:nvSpPr>
        <p:spPr>
          <a:xfrm>
            <a:off x="914400" y="1828800"/>
            <a:ext cx="4754880" cy="4114800"/>
          </a:xfrm>
          <a:prstGeom prst="rect">
            <a:avLst/>
          </a:prstGeom>
          <a:noFill/>
        </p:spPr>
        <p:txBody>
          <a:bodyPr wrap="square">
            <a:spAutoFit/>
          </a:bodyPr>
          <a:lstStyle/>
          <a:p>
            <a:pPr>
              <a:defRPr sz="1000" b="1">
                <a:solidFill>
                  <a:srgbClr val="0F172A"/>
                </a:solidFill>
              </a:defRPr>
            </a:pPr>
            <a:r>
              <a:t>• Cryptographic Workspace Scoping</a:t>
            </a:r>
            <a:br/>
            <a:r>
              <a:rPr sz="950" b="0">
                <a:solidFill>
                  <a:srgbClr val="64748B"/>
                </a:solidFill>
              </a:rPr>
              <a:t>Every business model contains an indexed workspaceId: { type: ObjectId, ref: 'Workspace', required: true, index: true }.</a:t>
            </a:r>
          </a:p>
          <a:p>
            <a:pPr>
              <a:spcBef>
                <a:spcPts val="800"/>
              </a:spcBef>
              <a:defRPr sz="1000" b="1">
                <a:solidFill>
                  <a:srgbClr val="0F172A"/>
                </a:solidFill>
              </a:defRPr>
            </a:pPr>
            <a:r>
              <a:t>• No Tenant Data Leakage</a:t>
            </a:r>
            <a:br/>
            <a:r>
              <a:rPr sz="950" b="0">
                <a:solidFill>
                  <a:srgbClr val="64748B"/>
                </a:solidFill>
              </a:rPr>
              <a:t>All database read/write queries mandate { workspaceId: req.workspace.workspaceId }. It is architecturally impossible for Tenant A to query Tenant B.</a:t>
            </a:r>
          </a:p>
          <a:p>
            <a:pPr>
              <a:spcBef>
                <a:spcPts val="800"/>
              </a:spcBef>
              <a:defRPr sz="1000" b="1">
                <a:solidFill>
                  <a:srgbClr val="0F172A"/>
                </a:solidFill>
              </a:defRPr>
            </a:pPr>
            <a:r>
              <a:t>• RBAC Permission Matrix</a:t>
            </a:r>
            <a:br/>
            <a:r>
              <a:rPr sz="950" b="0">
                <a:solidFill>
                  <a:srgbClr val="64748B"/>
                </a:solidFill>
              </a:rPr>
              <a:t>Granular roles: Owner (Full control, billing), Admin (Workspace configuration), Manager (Read/write operations), Employee (Task execution), Viewer (Read-only).</a:t>
            </a:r>
          </a:p>
          <a:p>
            <a:pPr>
              <a:spcBef>
                <a:spcPts val="800"/>
              </a:spcBef>
              <a:defRPr sz="1000" b="1">
                <a:solidFill>
                  <a:srgbClr val="0F172A"/>
                </a:solidFill>
              </a:defRPr>
            </a:pPr>
            <a:r>
              <a:t>• Referencing vs. Embedding Strategy</a:t>
            </a:r>
            <a:br/>
            <a:r>
              <a:rPr sz="950" b="0">
                <a:solidFill>
                  <a:srgbClr val="64748B"/>
                </a:solidFill>
              </a:rPr>
              <a:t>Core entities (Leads, Projects, Documents) use normalized references with compound indexes. Sub-items (Interactions, Milestones) are embedded for atomic updates.</a:t>
            </a:r>
          </a:p>
          <a:p>
            <a:pPr>
              <a:spcBef>
                <a:spcPts val="800"/>
              </a:spcBef>
              <a:defRPr sz="1000" b="1">
                <a:solidFill>
                  <a:srgbClr val="0F172A"/>
                </a:solidFill>
              </a:defRPr>
            </a:pPr>
            <a:r>
              <a:t>• Compound Index Optimization</a:t>
            </a:r>
            <a:br/>
            <a:r>
              <a:rPr sz="950" b="0">
                <a:solidFill>
                  <a:srgbClr val="64748B"/>
                </a:solidFill>
              </a:rPr>
              <a:t>Frequently queried access paths use compound indexes, such as { workspaceId: 1, stage: 1, createdAt: -1 } on Leads.</a:t>
            </a:r>
          </a:p>
        </p:txBody>
      </p:sp>
      <p:sp>
        <p:nvSpPr>
          <p:cNvPr id="9" name="Rounded Rectangle 8"/>
          <p:cNvSpPr/>
          <p:nvPr/>
        </p:nvSpPr>
        <p:spPr>
          <a:xfrm>
            <a:off x="6217920" y="1371600"/>
            <a:ext cx="524225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36192"/>
            <a:ext cx="4876495" cy="320040"/>
          </a:xfrm>
          <a:prstGeom prst="rect">
            <a:avLst/>
          </a:prstGeom>
          <a:noFill/>
        </p:spPr>
        <p:txBody>
          <a:bodyPr wrap="square" lIns="0" tIns="0" rIns="0" bIns="0">
            <a:spAutoFit/>
          </a:bodyPr>
          <a:lstStyle/>
          <a:p>
            <a:pPr>
              <a:defRPr sz="1200" b="1">
                <a:solidFill>
                  <a:srgbClr val="2563EB"/>
                </a:solidFill>
              </a:defRPr>
            </a:pPr>
            <a:r>
              <a:t>The 20 Operational Mongoose Schemas</a:t>
            </a:r>
          </a:p>
        </p:txBody>
      </p:sp>
      <p:sp>
        <p:nvSpPr>
          <p:cNvPr id="11" name="TextBox 10"/>
          <p:cNvSpPr txBox="1"/>
          <p:nvPr/>
        </p:nvSpPr>
        <p:spPr>
          <a:xfrm>
            <a:off x="6400800" y="1828800"/>
            <a:ext cx="4876495" cy="4114800"/>
          </a:xfrm>
          <a:prstGeom prst="rect">
            <a:avLst/>
          </a:prstGeom>
          <a:noFill/>
        </p:spPr>
        <p:txBody>
          <a:bodyPr wrap="square">
            <a:spAutoFit/>
          </a:bodyPr>
          <a:lstStyle/>
          <a:p>
            <a:pPr>
              <a:defRPr sz="950" b="1">
                <a:solidFill>
                  <a:srgbClr val="4F46E5"/>
                </a:solidFill>
              </a:defRPr>
            </a:pPr>
            <a:r>
              <a:t>Identity &amp; Tenants (3): </a:t>
            </a:r>
            <a:r>
              <a:rPr sz="900" b="0">
                <a:solidFill>
                  <a:srgbClr val="64748B"/>
                </a:solidFill>
              </a:rPr>
              <a:t>User (bcrypt auth, profile) • Workspace (company metadata) • WorkspaceMember (tenant-role binding).</a:t>
            </a:r>
          </a:p>
          <a:p>
            <a:pPr>
              <a:spcBef>
                <a:spcPts val="600"/>
              </a:spcBef>
              <a:defRPr sz="950" b="1">
                <a:solidFill>
                  <a:srgbClr val="4F46E5"/>
                </a:solidFill>
              </a:defRPr>
            </a:pPr>
            <a:r>
              <a:t>Sales &amp; CRM (3): </a:t>
            </a:r>
            <a:r>
              <a:rPr sz="900" b="0">
                <a:solidFill>
                  <a:srgbClr val="64748B"/>
                </a:solidFill>
              </a:rPr>
              <a:t>Lead (0-100 AI score, pipeline stages) • Customer (health score, churn risk) • Interaction (timeline notes).</a:t>
            </a:r>
          </a:p>
          <a:p>
            <a:pPr>
              <a:spcBef>
                <a:spcPts val="600"/>
              </a:spcBef>
              <a:defRPr sz="950" b="1">
                <a:solidFill>
                  <a:srgbClr val="4F46E5"/>
                </a:solidFill>
              </a:defRPr>
            </a:pPr>
            <a:r>
              <a:t>Execution &amp; Planning (2): </a:t>
            </a:r>
            <a:r>
              <a:rPr sz="900" b="0">
                <a:solidFill>
                  <a:srgbClr val="64748B"/>
                </a:solidFill>
              </a:rPr>
              <a:t>Project (budget, target date, milestones) • Task (Kanban stages, priority, assignees).</a:t>
            </a:r>
          </a:p>
          <a:p>
            <a:pPr>
              <a:spcBef>
                <a:spcPts val="600"/>
              </a:spcBef>
              <a:defRPr sz="950" b="1">
                <a:solidFill>
                  <a:srgbClr val="4F46E5"/>
                </a:solidFill>
              </a:defRPr>
            </a:pPr>
            <a:r>
              <a:t>Knowledge &amp; Meetings (3): </a:t>
            </a:r>
            <a:r>
              <a:rPr sz="900" b="0">
                <a:solidFill>
                  <a:srgbClr val="64748B"/>
                </a:solidFill>
              </a:rPr>
              <a:t>Document (metadata, mime) • DocumentChunk (vector embeddings) • Meeting (transcripts, action items).</a:t>
            </a:r>
          </a:p>
          <a:p>
            <a:pPr>
              <a:spcBef>
                <a:spcPts val="600"/>
              </a:spcBef>
              <a:defRPr sz="950" b="1">
                <a:solidFill>
                  <a:srgbClr val="4F46E5"/>
                </a:solidFill>
              </a:defRPr>
            </a:pPr>
            <a:r>
              <a:t>Intelligence &amp; Strategy (3): </a:t>
            </a:r>
            <a:r>
              <a:rPr sz="900" b="0">
                <a:solidFill>
                  <a:srgbClr val="64748B"/>
                </a:solidFill>
              </a:rPr>
              <a:t>Competitor (SWOT, market gap) • MarketingCampaign (ROI, CAC, copy) • Feedback (sentiment, urgency).</a:t>
            </a:r>
          </a:p>
          <a:p>
            <a:pPr>
              <a:spcBef>
                <a:spcPts val="600"/>
              </a:spcBef>
              <a:defRPr sz="950" b="1">
                <a:solidFill>
                  <a:srgbClr val="4F46E5"/>
                </a:solidFill>
              </a:defRPr>
            </a:pPr>
            <a:r>
              <a:t>Finance &amp; Automations (3): </a:t>
            </a:r>
            <a:r>
              <a:rPr sz="900" b="0">
                <a:solidFill>
                  <a:srgbClr val="64748B"/>
                </a:solidFill>
              </a:rPr>
              <a:t>FinancialRecord (revenue/expense ledger) • Automation (trigger-action rules) • Notification (alerts).</a:t>
            </a:r>
          </a:p>
          <a:p>
            <a:pPr>
              <a:spcBef>
                <a:spcPts val="600"/>
              </a:spcBef>
              <a:defRPr sz="950" b="1">
                <a:solidFill>
                  <a:srgbClr val="4F46E5"/>
                </a:solidFill>
              </a:defRPr>
            </a:pPr>
            <a:r>
              <a:t>AI Telemetry &amp; Governance (3): </a:t>
            </a:r>
            <a:r>
              <a:rPr sz="900" b="0">
                <a:solidFill>
                  <a:srgbClr val="64748B"/>
                </a:solidFill>
              </a:rPr>
              <a:t>AIConversation (chat history) • AIUsage (token &amp; cost metering) • AuditLog (immutable security ledger).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5. ARTIFICIAL INTELLIGENCE LAYER</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AI Architecture &amp; Bounded Tool Calling</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6 of 15</a:t>
            </a:r>
          </a:p>
        </p:txBody>
      </p:sp>
      <p:sp>
        <p:nvSpPr>
          <p:cNvPr id="6" name="Rounded Rectangle 5"/>
          <p:cNvSpPr/>
          <p:nvPr/>
        </p:nvSpPr>
        <p:spPr>
          <a:xfrm>
            <a:off x="731520" y="1371600"/>
            <a:ext cx="10728655" cy="1280160"/>
          </a:xfrm>
          <a:prstGeom prst="roundRect">
            <a:avLst/>
          </a:prstGeom>
          <a:solidFill>
            <a:srgbClr val="F5F3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10362895" cy="320040"/>
          </a:xfrm>
          <a:prstGeom prst="rect">
            <a:avLst/>
          </a:prstGeom>
          <a:noFill/>
        </p:spPr>
        <p:txBody>
          <a:bodyPr wrap="square" lIns="0" tIns="0" rIns="0" bIns="0">
            <a:spAutoFit/>
          </a:bodyPr>
          <a:lstStyle/>
          <a:p>
            <a:pPr>
              <a:defRPr sz="1200" b="1">
                <a:solidFill>
                  <a:srgbClr val="4F46E5"/>
                </a:solidFill>
              </a:defRPr>
            </a:pPr>
            <a:r>
              <a:t>THE 8-STEP COPILOT EXECUTION PIPELINE</a:t>
            </a:r>
          </a:p>
        </p:txBody>
      </p:sp>
      <p:sp>
        <p:nvSpPr>
          <p:cNvPr id="8" name="TextBox 7"/>
          <p:cNvSpPr txBox="1"/>
          <p:nvPr/>
        </p:nvSpPr>
        <p:spPr>
          <a:xfrm>
            <a:off x="914400" y="1783080"/>
            <a:ext cx="10332720" cy="777240"/>
          </a:xfrm>
          <a:prstGeom prst="rect">
            <a:avLst/>
          </a:prstGeom>
          <a:noFill/>
        </p:spPr>
        <p:txBody>
          <a:bodyPr wrap="square">
            <a:spAutoFit/>
          </a:bodyPr>
          <a:lstStyle/>
          <a:p>
            <a:pPr>
              <a:defRPr sz="1050" b="1">
                <a:solidFill>
                  <a:srgbClr val="0F172A"/>
                </a:solidFill>
              </a:defRPr>
            </a:pPr>
            <a:r>
              <a:t>1. User Query (UI Drawer)  ➔  2. Auth &amp; Workspace Check  ➔  3. System Prompt &amp; Context Injection  ➔  4. LLM Tool Selection (Function Calling)  ➔  5. Read-Only Database Execution (Mongoose)  ➔  6. Model Synthesis &amp; Citation Grounding  ➔  7. Action Proposal Formatting  ➔  8. Human Review &amp; Confirmation</a:t>
            </a:r>
          </a:p>
        </p:txBody>
      </p:sp>
      <p:sp>
        <p:nvSpPr>
          <p:cNvPr id="9" name="Rounded Rectangle 8"/>
          <p:cNvSpPr/>
          <p:nvPr/>
        </p:nvSpPr>
        <p:spPr>
          <a:xfrm>
            <a:off x="731520" y="2834640"/>
            <a:ext cx="10728655"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44368"/>
            <a:ext cx="10332720" cy="457200"/>
          </a:xfrm>
          <a:prstGeom prst="rect">
            <a:avLst/>
          </a:prstGeom>
          <a:noFill/>
        </p:spPr>
        <p:txBody>
          <a:bodyPr wrap="square">
            <a:spAutoFit/>
          </a:bodyPr>
          <a:lstStyle/>
          <a:p>
            <a:pPr>
              <a:defRPr sz="1050" b="1">
                <a:solidFill>
                  <a:srgbClr val="4F46E5"/>
                </a:solidFill>
              </a:defRPr>
            </a:pPr>
            <a:r>
              <a:t>• Multi-Provider Orchestrator: </a:t>
            </a:r>
            <a:r>
              <a:rPr sz="1000" b="0">
                <a:solidFill>
                  <a:srgbClr val="0F172A"/>
                </a:solidFill>
              </a:rPr>
              <a:t>Pluggable engine supporting Google Gemini (gemini-flash-lite-latest / gemini-2.5-flash), OpenAI (gpt-4o), and a deterministic Mock engine for offline resilience.</a:t>
            </a:r>
          </a:p>
        </p:txBody>
      </p:sp>
      <p:sp>
        <p:nvSpPr>
          <p:cNvPr id="11" name="Rounded Rectangle 10"/>
          <p:cNvSpPr/>
          <p:nvPr/>
        </p:nvSpPr>
        <p:spPr>
          <a:xfrm>
            <a:off x="731520" y="3547872"/>
            <a:ext cx="10728655"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57600"/>
            <a:ext cx="10332720" cy="457200"/>
          </a:xfrm>
          <a:prstGeom prst="rect">
            <a:avLst/>
          </a:prstGeom>
          <a:noFill/>
        </p:spPr>
        <p:txBody>
          <a:bodyPr wrap="square">
            <a:spAutoFit/>
          </a:bodyPr>
          <a:lstStyle/>
          <a:p>
            <a:pPr>
              <a:defRPr sz="1050" b="1">
                <a:solidFill>
                  <a:srgbClr val="4F46E5"/>
                </a:solidFill>
              </a:defRPr>
            </a:pPr>
            <a:r>
              <a:t>• 10 Bounded Inspection Tools: </a:t>
            </a:r>
            <a:r>
              <a:rPr sz="1000" b="0">
                <a:solidFill>
                  <a:srgbClr val="0F172A"/>
                </a:solidFill>
              </a:rPr>
              <a:t>Copilot is equipped with strictly read-only tools: getRevenueData, getSalesPipeline, getLeads, getCustomers, getProjects, getTasks, getBusinessHealth, getCompetitors, searchDocuments, askRAG.</a:t>
            </a:r>
          </a:p>
        </p:txBody>
      </p:sp>
      <p:sp>
        <p:nvSpPr>
          <p:cNvPr id="13" name="Rounded Rectangle 12"/>
          <p:cNvSpPr/>
          <p:nvPr/>
        </p:nvSpPr>
        <p:spPr>
          <a:xfrm>
            <a:off x="731520" y="4261104"/>
            <a:ext cx="10728655"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70832"/>
            <a:ext cx="10332720" cy="457200"/>
          </a:xfrm>
          <a:prstGeom prst="rect">
            <a:avLst/>
          </a:prstGeom>
          <a:noFill/>
        </p:spPr>
        <p:txBody>
          <a:bodyPr wrap="square">
            <a:spAutoFit/>
          </a:bodyPr>
          <a:lstStyle/>
          <a:p>
            <a:pPr>
              <a:defRPr sz="1050" b="1">
                <a:solidFill>
                  <a:srgbClr val="4F46E5"/>
                </a:solidFill>
              </a:defRPr>
            </a:pPr>
            <a:r>
              <a:t>• No Direct LLM Mutations: </a:t>
            </a:r>
            <a:r>
              <a:rPr sz="1000" b="0">
                <a:solidFill>
                  <a:srgbClr val="0F172A"/>
                </a:solidFill>
              </a:rPr>
              <a:t>When the user asks to 'create a task' or 'launch a campaign', the AI produces a structured ActionProposal JSON card with title, priority, and rationale—requiring user approval.</a:t>
            </a:r>
          </a:p>
        </p:txBody>
      </p:sp>
      <p:sp>
        <p:nvSpPr>
          <p:cNvPr id="15" name="Rounded Rectangle 14"/>
          <p:cNvSpPr/>
          <p:nvPr/>
        </p:nvSpPr>
        <p:spPr>
          <a:xfrm>
            <a:off x="731520" y="4974336"/>
            <a:ext cx="10728655"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84064"/>
            <a:ext cx="10332720" cy="457200"/>
          </a:xfrm>
          <a:prstGeom prst="rect">
            <a:avLst/>
          </a:prstGeom>
          <a:noFill/>
        </p:spPr>
        <p:txBody>
          <a:bodyPr wrap="square">
            <a:spAutoFit/>
          </a:bodyPr>
          <a:lstStyle/>
          <a:p>
            <a:pPr>
              <a:defRPr sz="1050" b="1">
                <a:solidFill>
                  <a:srgbClr val="4F46E5"/>
                </a:solidFill>
              </a:defRPr>
            </a:pPr>
            <a:r>
              <a:t>• AI Telemetry &amp; Cost Accounting: </a:t>
            </a:r>
            <a:r>
              <a:rPr sz="1000" b="0">
                <a:solidFill>
                  <a:srgbClr val="0F172A"/>
                </a:solidFill>
              </a:rPr>
              <a:t>Every prompt and completion is metered. Token counts and calculated dollar costs based on official provider rate cards are stored in the AIUsage collection.</a:t>
            </a:r>
          </a:p>
        </p:txBody>
      </p:sp>
      <p:sp>
        <p:nvSpPr>
          <p:cNvPr id="17" name="Rounded Rectangle 16"/>
          <p:cNvSpPr/>
          <p:nvPr/>
        </p:nvSpPr>
        <p:spPr>
          <a:xfrm>
            <a:off x="731520" y="5687568"/>
            <a:ext cx="10728655"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797296"/>
            <a:ext cx="10332720" cy="457200"/>
          </a:xfrm>
          <a:prstGeom prst="rect">
            <a:avLst/>
          </a:prstGeom>
          <a:noFill/>
        </p:spPr>
        <p:txBody>
          <a:bodyPr wrap="square">
            <a:spAutoFit/>
          </a:bodyPr>
          <a:lstStyle/>
          <a:p>
            <a:pPr>
              <a:defRPr sz="1050" b="1">
                <a:solidFill>
                  <a:srgbClr val="4F46E5"/>
                </a:solidFill>
              </a:defRPr>
            </a:pPr>
            <a:r>
              <a:t>• Specialized Module Wizards: </a:t>
            </a:r>
            <a:r>
              <a:rPr sz="1000" b="0">
                <a:solidFill>
                  <a:srgbClr val="0F172A"/>
                </a:solidFill>
              </a:rPr>
              <a:t>Beyond the Copilot: AI Lead Scoring (0-100 conversion propensity), AI Project Planner (WBS generator), AI Content Studio (ad/email copy), and Meeting Intelligence.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6. RETRIEVAL-AUGMENTED GENERATION</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Knowledge Base RAG &amp; Document Intelligence</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7 of 15</a:t>
            </a:r>
          </a:p>
        </p:txBody>
      </p:sp>
      <p:sp>
        <p:nvSpPr>
          <p:cNvPr id="6" name="Rounded Rectangle 5"/>
          <p:cNvSpPr/>
          <p:nvPr/>
        </p:nvSpPr>
        <p:spPr>
          <a:xfrm>
            <a:off x="731520" y="1371600"/>
            <a:ext cx="32918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2926080" cy="320040"/>
          </a:xfrm>
          <a:prstGeom prst="rect">
            <a:avLst/>
          </a:prstGeom>
          <a:noFill/>
        </p:spPr>
        <p:txBody>
          <a:bodyPr wrap="square" lIns="0" tIns="0" rIns="0" bIns="0">
            <a:spAutoFit/>
          </a:bodyPr>
          <a:lstStyle/>
          <a:p>
            <a:pPr>
              <a:defRPr sz="1200" b="1">
                <a:solidFill>
                  <a:srgbClr val="2563EB"/>
                </a:solidFill>
              </a:defRPr>
            </a:pPr>
            <a:r>
              <a:t>1. Multi-Format Ingestion</a:t>
            </a:r>
          </a:p>
        </p:txBody>
      </p:sp>
      <p:sp>
        <p:nvSpPr>
          <p:cNvPr id="8" name="TextBox 7"/>
          <p:cNvSpPr txBox="1"/>
          <p:nvPr/>
        </p:nvSpPr>
        <p:spPr>
          <a:xfrm>
            <a:off x="914400" y="1828800"/>
            <a:ext cx="2926080" cy="1737360"/>
          </a:xfrm>
          <a:prstGeom prst="rect">
            <a:avLst/>
          </a:prstGeom>
          <a:noFill/>
        </p:spPr>
        <p:txBody>
          <a:bodyPr wrap="square">
            <a:spAutoFit/>
          </a:bodyPr>
          <a:lstStyle/>
          <a:p>
            <a:pPr>
              <a:defRPr sz="900" b="1">
                <a:solidFill>
                  <a:srgbClr val="0F172A"/>
                </a:solidFill>
              </a:defRPr>
            </a:pPr>
            <a:r>
              <a:t>• Supported Formats: </a:t>
            </a:r>
            <a:r>
              <a:rPr b="0">
                <a:solidFill>
                  <a:srgbClr val="64748B"/>
                </a:solidFill>
              </a:rPr>
              <a:t>Native parsing for .pdf (pdf-parse), .docx (mammoth), .csv (csv-parse), and .txt.</a:t>
            </a:r>
          </a:p>
          <a:p>
            <a:pPr>
              <a:spcBef>
                <a:spcPts val="400"/>
              </a:spcBef>
              <a:defRPr sz="900" b="1">
                <a:solidFill>
                  <a:srgbClr val="0F172A"/>
                </a:solidFill>
              </a:defRPr>
            </a:pPr>
            <a:r>
              <a:t>• Validation Guardrails: </a:t>
            </a:r>
            <a:r>
              <a:rPr b="0">
                <a:solidFill>
                  <a:srgbClr val="64748B"/>
                </a:solidFill>
              </a:rPr>
              <a:t>Strict MIME verification and a 15MB file size limit to prevent memory exhaustion.</a:t>
            </a:r>
          </a:p>
          <a:p>
            <a:pPr>
              <a:spcBef>
                <a:spcPts val="400"/>
              </a:spcBef>
              <a:defRPr sz="900" b="1">
                <a:solidFill>
                  <a:srgbClr val="0F172A"/>
                </a:solidFill>
              </a:defRPr>
            </a:pPr>
            <a:r>
              <a:t>• Workspace Binding: </a:t>
            </a:r>
            <a:r>
              <a:rPr b="0">
                <a:solidFill>
                  <a:srgbClr val="64748B"/>
                </a:solidFill>
              </a:rPr>
              <a:t>Document uploaded by Tenant A is strictly isolated to Tenant A's storage space.</a:t>
            </a:r>
          </a:p>
        </p:txBody>
      </p:sp>
      <p:sp>
        <p:nvSpPr>
          <p:cNvPr id="9" name="Rounded Rectangle 8"/>
          <p:cNvSpPr/>
          <p:nvPr/>
        </p:nvSpPr>
        <p:spPr>
          <a:xfrm>
            <a:off x="4297680" y="1371600"/>
            <a:ext cx="356616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536192"/>
            <a:ext cx="3200400" cy="320040"/>
          </a:xfrm>
          <a:prstGeom prst="rect">
            <a:avLst/>
          </a:prstGeom>
          <a:noFill/>
        </p:spPr>
        <p:txBody>
          <a:bodyPr wrap="square" lIns="0" tIns="0" rIns="0" bIns="0">
            <a:spAutoFit/>
          </a:bodyPr>
          <a:lstStyle/>
          <a:p>
            <a:pPr>
              <a:defRPr sz="1200" b="1">
                <a:solidFill>
                  <a:srgbClr val="4F46E5"/>
                </a:solidFill>
              </a:defRPr>
            </a:pPr>
            <a:r>
              <a:t>2. Semantic Text Chunking</a:t>
            </a:r>
          </a:p>
        </p:txBody>
      </p:sp>
      <p:sp>
        <p:nvSpPr>
          <p:cNvPr id="11" name="TextBox 10"/>
          <p:cNvSpPr txBox="1"/>
          <p:nvPr/>
        </p:nvSpPr>
        <p:spPr>
          <a:xfrm>
            <a:off x="4480560" y="1828800"/>
            <a:ext cx="3200400" cy="1737360"/>
          </a:xfrm>
          <a:prstGeom prst="rect">
            <a:avLst/>
          </a:prstGeom>
          <a:noFill/>
        </p:spPr>
        <p:txBody>
          <a:bodyPr wrap="square">
            <a:spAutoFit/>
          </a:bodyPr>
          <a:lstStyle/>
          <a:p>
            <a:pPr>
              <a:defRPr sz="900" b="1">
                <a:solidFill>
                  <a:srgbClr val="0F172A"/>
                </a:solidFill>
              </a:defRPr>
            </a:pPr>
            <a:r>
              <a:t>• Sliding Window: </a:t>
            </a:r>
            <a:r>
              <a:rPr b="0">
                <a:solidFill>
                  <a:srgbClr val="64748B"/>
                </a:solidFill>
              </a:rPr>
              <a:t>TextChunker creates 250-word chunks with a 40-word overlap to preserve contextual continuity.</a:t>
            </a:r>
          </a:p>
          <a:p>
            <a:pPr>
              <a:spcBef>
                <a:spcPts val="400"/>
              </a:spcBef>
              <a:defRPr sz="900" b="1">
                <a:solidFill>
                  <a:srgbClr val="0F172A"/>
                </a:solidFill>
              </a:defRPr>
            </a:pPr>
            <a:r>
              <a:t>• Chunk Normalization: </a:t>
            </a:r>
            <a:r>
              <a:rPr b="0">
                <a:solidFill>
                  <a:srgbClr val="64748B"/>
                </a:solidFill>
              </a:rPr>
              <a:t>Whitespace stripping, special character cleanup, and header preservation.</a:t>
            </a:r>
          </a:p>
          <a:p>
            <a:pPr>
              <a:spcBef>
                <a:spcPts val="400"/>
              </a:spcBef>
              <a:defRPr sz="900" b="1">
                <a:solidFill>
                  <a:srgbClr val="0F172A"/>
                </a:solidFill>
              </a:defRPr>
            </a:pPr>
            <a:r>
              <a:t>• Database Persistence: </a:t>
            </a:r>
            <a:r>
              <a:rPr b="0">
                <a:solidFill>
                  <a:srgbClr val="64748B"/>
                </a:solidFill>
              </a:rPr>
              <a:t>Each chunk stored in DocumentChunk with documentId, workspaceId, and chunkIndex.</a:t>
            </a:r>
          </a:p>
        </p:txBody>
      </p:sp>
      <p:sp>
        <p:nvSpPr>
          <p:cNvPr id="12" name="Rounded Rectangle 11"/>
          <p:cNvSpPr/>
          <p:nvPr/>
        </p:nvSpPr>
        <p:spPr>
          <a:xfrm>
            <a:off x="8138160" y="1371600"/>
            <a:ext cx="32918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536192"/>
            <a:ext cx="2926080" cy="320040"/>
          </a:xfrm>
          <a:prstGeom prst="rect">
            <a:avLst/>
          </a:prstGeom>
          <a:noFill/>
        </p:spPr>
        <p:txBody>
          <a:bodyPr wrap="square" lIns="0" tIns="0" rIns="0" bIns="0">
            <a:spAutoFit/>
          </a:bodyPr>
          <a:lstStyle/>
          <a:p>
            <a:pPr>
              <a:defRPr sz="1200" b="1">
                <a:solidFill>
                  <a:srgbClr val="7C3AED"/>
                </a:solidFill>
              </a:defRPr>
            </a:pPr>
            <a:r>
              <a:t>3. Vector Embeddings &amp; Index</a:t>
            </a:r>
          </a:p>
        </p:txBody>
      </p:sp>
      <p:sp>
        <p:nvSpPr>
          <p:cNvPr id="14" name="TextBox 13"/>
          <p:cNvSpPr txBox="1"/>
          <p:nvPr/>
        </p:nvSpPr>
        <p:spPr>
          <a:xfrm>
            <a:off x="8321040" y="1828800"/>
            <a:ext cx="2926080" cy="1737360"/>
          </a:xfrm>
          <a:prstGeom prst="rect">
            <a:avLst/>
          </a:prstGeom>
          <a:noFill/>
        </p:spPr>
        <p:txBody>
          <a:bodyPr wrap="square">
            <a:spAutoFit/>
          </a:bodyPr>
          <a:lstStyle/>
          <a:p>
            <a:pPr>
              <a:defRPr sz="900" b="1">
                <a:solidFill>
                  <a:srgbClr val="0F172A"/>
                </a:solidFill>
              </a:defRPr>
            </a:pPr>
            <a:r>
              <a:t>• Vector Dimensions: </a:t>
            </a:r>
            <a:r>
              <a:rPr b="0">
                <a:solidFill>
                  <a:srgbClr val="64748B"/>
                </a:solidFill>
              </a:rPr>
              <a:t>Embeddings generated via Google Gemini text-embedding-004 (768-dimensional vectors).</a:t>
            </a:r>
          </a:p>
          <a:p>
            <a:pPr>
              <a:spcBef>
                <a:spcPts val="400"/>
              </a:spcBef>
              <a:defRPr sz="900" b="1">
                <a:solidFill>
                  <a:srgbClr val="0F172A"/>
                </a:solidFill>
              </a:defRPr>
            </a:pPr>
            <a:r>
              <a:t>• Deterministic Fallback: </a:t>
            </a:r>
            <a:r>
              <a:rPr b="0">
                <a:solidFill>
                  <a:srgbClr val="64748B"/>
                </a:solidFill>
              </a:rPr>
              <a:t>Deterministic hash-vector generator activates seamlessly if embedding API limits occur.</a:t>
            </a:r>
          </a:p>
          <a:p>
            <a:pPr>
              <a:spcBef>
                <a:spcPts val="400"/>
              </a:spcBef>
              <a:defRPr sz="900" b="1">
                <a:solidFill>
                  <a:srgbClr val="0F172A"/>
                </a:solidFill>
              </a:defRPr>
            </a:pPr>
            <a:r>
              <a:t>• Cosine Similarity Search: </a:t>
            </a:r>
            <a:r>
              <a:rPr b="0">
                <a:solidFill>
                  <a:srgbClr val="64748B"/>
                </a:solidFill>
              </a:rPr>
              <a:t>In-memory mathematical dot product computes vector similarity scores [0.0 to 1.0].</a:t>
            </a:r>
          </a:p>
        </p:txBody>
      </p:sp>
      <p:sp>
        <p:nvSpPr>
          <p:cNvPr id="15" name="Rounded Rectangle 14"/>
          <p:cNvSpPr/>
          <p:nvPr/>
        </p:nvSpPr>
        <p:spPr>
          <a:xfrm>
            <a:off x="731520" y="384048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05072"/>
            <a:ext cx="4754880" cy="320040"/>
          </a:xfrm>
          <a:prstGeom prst="rect">
            <a:avLst/>
          </a:prstGeom>
          <a:noFill/>
        </p:spPr>
        <p:txBody>
          <a:bodyPr wrap="square" lIns="0" tIns="0" rIns="0" bIns="0">
            <a:spAutoFit/>
          </a:bodyPr>
          <a:lstStyle/>
          <a:p>
            <a:pPr>
              <a:defRPr sz="1200" b="1">
                <a:solidFill>
                  <a:srgbClr val="10B981"/>
                </a:solidFill>
              </a:defRPr>
            </a:pPr>
            <a:r>
              <a:t>4. Grounded Context Construction</a:t>
            </a:r>
          </a:p>
        </p:txBody>
      </p:sp>
      <p:sp>
        <p:nvSpPr>
          <p:cNvPr id="17" name="TextBox 16"/>
          <p:cNvSpPr txBox="1"/>
          <p:nvPr/>
        </p:nvSpPr>
        <p:spPr>
          <a:xfrm>
            <a:off x="914400" y="4297680"/>
            <a:ext cx="4754880" cy="1737360"/>
          </a:xfrm>
          <a:prstGeom prst="rect">
            <a:avLst/>
          </a:prstGeom>
          <a:noFill/>
        </p:spPr>
        <p:txBody>
          <a:bodyPr wrap="square">
            <a:spAutoFit/>
          </a:bodyPr>
          <a:lstStyle/>
          <a:p>
            <a:pPr>
              <a:defRPr sz="900" b="1">
                <a:solidFill>
                  <a:srgbClr val="0F172A"/>
                </a:solidFill>
              </a:defRPr>
            </a:pPr>
            <a:r>
              <a:t>• Top-K Retrieval: </a:t>
            </a:r>
            <a:r>
              <a:rPr b="0">
                <a:solidFill>
                  <a:srgbClr val="64748B"/>
                </a:solidFill>
              </a:rPr>
              <a:t>Queries retrieve the top 3-5 most relevant chunks passing a minimum similarity threshold (&gt;0.40).</a:t>
            </a:r>
          </a:p>
          <a:p>
            <a:pPr>
              <a:spcBef>
                <a:spcPts val="400"/>
              </a:spcBef>
              <a:defRPr sz="900" b="1">
                <a:solidFill>
                  <a:srgbClr val="0F172A"/>
                </a:solidFill>
              </a:defRPr>
            </a:pPr>
            <a:r>
              <a:t>• Prompt Injection Protection: </a:t>
            </a:r>
            <a:r>
              <a:rPr b="0">
                <a:solidFill>
                  <a:srgbClr val="64748B"/>
                </a:solidFill>
              </a:rPr>
              <a:t>Retrieved document content is wrapped in strict XML delimiters with explicit instructions to ignore external commands embedded in documents.</a:t>
            </a:r>
          </a:p>
          <a:p>
            <a:pPr>
              <a:spcBef>
                <a:spcPts val="400"/>
              </a:spcBef>
              <a:defRPr sz="900" b="1">
                <a:solidFill>
                  <a:srgbClr val="0F172A"/>
                </a:solidFill>
              </a:defRPr>
            </a:pPr>
            <a:r>
              <a:t>• Hallucination Prevention: </a:t>
            </a:r>
            <a:r>
              <a:rPr b="0">
                <a:solidFill>
                  <a:srgbClr val="64748B"/>
                </a:solidFill>
              </a:rPr>
              <a:t>The model is strictly instructed: 'Answer only from the provided document context. If the document does not contain the answer, explicitly state that.'</a:t>
            </a:r>
          </a:p>
        </p:txBody>
      </p:sp>
      <p:sp>
        <p:nvSpPr>
          <p:cNvPr id="18" name="Rounded Rectangle 17"/>
          <p:cNvSpPr/>
          <p:nvPr/>
        </p:nvSpPr>
        <p:spPr>
          <a:xfrm>
            <a:off x="6217920" y="384048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005072"/>
            <a:ext cx="4876495" cy="320040"/>
          </a:xfrm>
          <a:prstGeom prst="rect">
            <a:avLst/>
          </a:prstGeom>
          <a:noFill/>
        </p:spPr>
        <p:txBody>
          <a:bodyPr wrap="square" lIns="0" tIns="0" rIns="0" bIns="0">
            <a:spAutoFit/>
          </a:bodyPr>
          <a:lstStyle/>
          <a:p>
            <a:pPr>
              <a:defRPr sz="1200" b="1">
                <a:solidFill>
                  <a:srgbClr val="F59E0B"/>
                </a:solidFill>
              </a:defRPr>
            </a:pPr>
            <a:r>
              <a:t>5. Grounded QA with Source Citations</a:t>
            </a:r>
          </a:p>
        </p:txBody>
      </p:sp>
      <p:sp>
        <p:nvSpPr>
          <p:cNvPr id="20" name="TextBox 19"/>
          <p:cNvSpPr txBox="1"/>
          <p:nvPr/>
        </p:nvSpPr>
        <p:spPr>
          <a:xfrm>
            <a:off x="6400800" y="4297680"/>
            <a:ext cx="4876495" cy="1737360"/>
          </a:xfrm>
          <a:prstGeom prst="rect">
            <a:avLst/>
          </a:prstGeom>
          <a:noFill/>
        </p:spPr>
        <p:txBody>
          <a:bodyPr wrap="square">
            <a:spAutoFit/>
          </a:bodyPr>
          <a:lstStyle/>
          <a:p>
            <a:pPr>
              <a:defRPr sz="900" b="1">
                <a:solidFill>
                  <a:srgbClr val="0F172A"/>
                </a:solidFill>
              </a:defRPr>
            </a:pPr>
            <a:r>
              <a:t>• Citation Badges: </a:t>
            </a:r>
            <a:r>
              <a:rPr b="0">
                <a:solidFill>
                  <a:srgbClr val="64748B"/>
                </a:solidFill>
              </a:rPr>
              <a:t>Every generated answer links back to exact source documents (e.g. '[Source: Master SLA.pdf, Chunk 2]').</a:t>
            </a:r>
          </a:p>
          <a:p>
            <a:pPr>
              <a:spcBef>
                <a:spcPts val="400"/>
              </a:spcBef>
              <a:defRPr sz="900" b="1">
                <a:solidFill>
                  <a:srgbClr val="0F172A"/>
                </a:solidFill>
              </a:defRPr>
            </a:pPr>
            <a:r>
              <a:t>• UI Inline Viewer: </a:t>
            </a:r>
            <a:r>
              <a:rPr b="0">
                <a:solidFill>
                  <a:srgbClr val="64748B"/>
                </a:solidFill>
              </a:rPr>
              <a:t>Users can click citations to view the original source excerpt directly inside the Documents UI.</a:t>
            </a:r>
          </a:p>
          <a:p>
            <a:pPr>
              <a:spcBef>
                <a:spcPts val="400"/>
              </a:spcBef>
              <a:defRPr sz="900" b="1">
                <a:solidFill>
                  <a:srgbClr val="0F172A"/>
                </a:solidFill>
              </a:defRPr>
            </a:pPr>
            <a:r>
              <a:t>• Verified Test Status: </a:t>
            </a:r>
            <a:r>
              <a:rPr b="0">
                <a:solidFill>
                  <a:srgbClr val="64748B"/>
                </a:solidFill>
              </a:rPr>
              <a:t>Full pipeline verified locally and in production with sample contract PDFs and CSV reports.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7. SECURITY &amp; GOVERNANCE</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Enterprise Security Controls &amp; Workspace Isolation</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8 of 15</a:t>
            </a:r>
          </a:p>
        </p:txBody>
      </p:sp>
      <p:sp>
        <p:nvSpPr>
          <p:cNvPr id="6" name="Rounded Rectangle 5"/>
          <p:cNvSpPr/>
          <p:nvPr/>
        </p:nvSpPr>
        <p:spPr>
          <a:xfrm>
            <a:off x="731520" y="1371600"/>
            <a:ext cx="524225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4876495" cy="320040"/>
          </a:xfrm>
          <a:prstGeom prst="rect">
            <a:avLst/>
          </a:prstGeom>
          <a:noFill/>
        </p:spPr>
        <p:txBody>
          <a:bodyPr wrap="square" lIns="0" tIns="0" rIns="0" bIns="0">
            <a:spAutoFit/>
          </a:bodyPr>
          <a:lstStyle/>
          <a:p>
            <a:pPr>
              <a:defRPr sz="1200" b="1">
                <a:solidFill>
                  <a:srgbClr val="EF4444"/>
                </a:solidFill>
              </a:defRPr>
            </a:pPr>
            <a:r>
              <a:t>1. Multi-Tenant Isolation</a:t>
            </a:r>
          </a:p>
        </p:txBody>
      </p:sp>
      <p:sp>
        <p:nvSpPr>
          <p:cNvPr id="8" name="TextBox 7"/>
          <p:cNvSpPr txBox="1"/>
          <p:nvPr/>
        </p:nvSpPr>
        <p:spPr>
          <a:xfrm>
            <a:off x="914400" y="1874520"/>
            <a:ext cx="4876495" cy="777240"/>
          </a:xfrm>
          <a:prstGeom prst="rect">
            <a:avLst/>
          </a:prstGeom>
          <a:noFill/>
        </p:spPr>
        <p:txBody>
          <a:bodyPr wrap="square">
            <a:spAutoFit/>
          </a:bodyPr>
          <a:lstStyle/>
          <a:p>
            <a:pPr>
              <a:defRPr sz="1050">
                <a:solidFill>
                  <a:srgbClr val="0F172A"/>
                </a:solidFill>
              </a:defRPr>
            </a:pPr>
            <a:r>
              <a:t>Cryptographic database query scoping guarantees Tenant A cannot read or mutate Tenant B records.</a:t>
            </a:r>
          </a:p>
        </p:txBody>
      </p:sp>
      <p:sp>
        <p:nvSpPr>
          <p:cNvPr id="9" name="Rounded Rectangle 8"/>
          <p:cNvSpPr/>
          <p:nvPr/>
        </p:nvSpPr>
        <p:spPr>
          <a:xfrm>
            <a:off x="6217920" y="1371600"/>
            <a:ext cx="524225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36192"/>
            <a:ext cx="4876495" cy="320040"/>
          </a:xfrm>
          <a:prstGeom prst="rect">
            <a:avLst/>
          </a:prstGeom>
          <a:noFill/>
        </p:spPr>
        <p:txBody>
          <a:bodyPr wrap="square" lIns="0" tIns="0" rIns="0" bIns="0">
            <a:spAutoFit/>
          </a:bodyPr>
          <a:lstStyle/>
          <a:p>
            <a:pPr>
              <a:defRPr sz="1200" b="1">
                <a:solidFill>
                  <a:srgbClr val="2563EB"/>
                </a:solidFill>
              </a:defRPr>
            </a:pPr>
            <a:r>
              <a:t>2. Password &amp; Auth Hashing</a:t>
            </a:r>
          </a:p>
        </p:txBody>
      </p:sp>
      <p:sp>
        <p:nvSpPr>
          <p:cNvPr id="11" name="TextBox 10"/>
          <p:cNvSpPr txBox="1"/>
          <p:nvPr/>
        </p:nvSpPr>
        <p:spPr>
          <a:xfrm>
            <a:off x="6400800" y="1874520"/>
            <a:ext cx="4876495" cy="777240"/>
          </a:xfrm>
          <a:prstGeom prst="rect">
            <a:avLst/>
          </a:prstGeom>
          <a:noFill/>
        </p:spPr>
        <p:txBody>
          <a:bodyPr wrap="square">
            <a:spAutoFit/>
          </a:bodyPr>
          <a:lstStyle/>
          <a:p>
            <a:pPr>
              <a:defRPr sz="1050">
                <a:solidFill>
                  <a:srgbClr val="0F172A"/>
                </a:solidFill>
              </a:defRPr>
            </a:pPr>
            <a:r>
              <a:t>bcrypt with 10 salt rounds + HMAC-SHA256 JWT tokens with verified expiration.</a:t>
            </a:r>
          </a:p>
        </p:txBody>
      </p:sp>
      <p:sp>
        <p:nvSpPr>
          <p:cNvPr id="12" name="Rounded Rectangle 11"/>
          <p:cNvSpPr/>
          <p:nvPr/>
        </p:nvSpPr>
        <p:spPr>
          <a:xfrm>
            <a:off x="731520" y="2926080"/>
            <a:ext cx="524225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90672"/>
            <a:ext cx="4876495" cy="320040"/>
          </a:xfrm>
          <a:prstGeom prst="rect">
            <a:avLst/>
          </a:prstGeom>
          <a:noFill/>
        </p:spPr>
        <p:txBody>
          <a:bodyPr wrap="square" lIns="0" tIns="0" rIns="0" bIns="0">
            <a:spAutoFit/>
          </a:bodyPr>
          <a:lstStyle/>
          <a:p>
            <a:pPr>
              <a:defRPr sz="1200" b="1">
                <a:solidFill>
                  <a:srgbClr val="4F46E5"/>
                </a:solidFill>
              </a:defRPr>
            </a:pPr>
            <a:r>
              <a:t>3. Granular 5-Tier RBAC</a:t>
            </a:r>
          </a:p>
        </p:txBody>
      </p:sp>
      <p:sp>
        <p:nvSpPr>
          <p:cNvPr id="14" name="TextBox 13"/>
          <p:cNvSpPr txBox="1"/>
          <p:nvPr/>
        </p:nvSpPr>
        <p:spPr>
          <a:xfrm>
            <a:off x="914400" y="3429000"/>
            <a:ext cx="4876495" cy="777240"/>
          </a:xfrm>
          <a:prstGeom prst="rect">
            <a:avLst/>
          </a:prstGeom>
          <a:noFill/>
        </p:spPr>
        <p:txBody>
          <a:bodyPr wrap="square">
            <a:spAutoFit/>
          </a:bodyPr>
          <a:lstStyle/>
          <a:p>
            <a:pPr>
              <a:defRPr sz="1050">
                <a:solidFill>
                  <a:srgbClr val="0F172A"/>
                </a:solidFill>
              </a:defRPr>
            </a:pPr>
            <a:r>
              <a:t>Strict enforcement across Owner, Admin, Manager, Employee, and Viewer roles.</a:t>
            </a:r>
          </a:p>
        </p:txBody>
      </p:sp>
      <p:sp>
        <p:nvSpPr>
          <p:cNvPr id="15" name="Rounded Rectangle 14"/>
          <p:cNvSpPr/>
          <p:nvPr/>
        </p:nvSpPr>
        <p:spPr>
          <a:xfrm>
            <a:off x="6217920" y="2926080"/>
            <a:ext cx="524225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090672"/>
            <a:ext cx="4876495" cy="320040"/>
          </a:xfrm>
          <a:prstGeom prst="rect">
            <a:avLst/>
          </a:prstGeom>
          <a:noFill/>
        </p:spPr>
        <p:txBody>
          <a:bodyPr wrap="square" lIns="0" tIns="0" rIns="0" bIns="0">
            <a:spAutoFit/>
          </a:bodyPr>
          <a:lstStyle/>
          <a:p>
            <a:pPr>
              <a:defRPr sz="1200" b="1">
                <a:solidFill>
                  <a:srgbClr val="7C3AED"/>
                </a:solidFill>
              </a:defRPr>
            </a:pPr>
            <a:r>
              <a:t>4. Network &amp; Origin Defense</a:t>
            </a:r>
          </a:p>
        </p:txBody>
      </p:sp>
      <p:sp>
        <p:nvSpPr>
          <p:cNvPr id="17" name="TextBox 16"/>
          <p:cNvSpPr txBox="1"/>
          <p:nvPr/>
        </p:nvSpPr>
        <p:spPr>
          <a:xfrm>
            <a:off x="6400800" y="3429000"/>
            <a:ext cx="4876495" cy="777240"/>
          </a:xfrm>
          <a:prstGeom prst="rect">
            <a:avLst/>
          </a:prstGeom>
          <a:noFill/>
        </p:spPr>
        <p:txBody>
          <a:bodyPr wrap="square">
            <a:spAutoFit/>
          </a:bodyPr>
          <a:lstStyle/>
          <a:p>
            <a:pPr>
              <a:defRPr sz="1050">
                <a:solidFill>
                  <a:srgbClr val="0F172A"/>
                </a:solidFill>
              </a:defRPr>
            </a:pPr>
            <a:r>
              <a:t>Helmet HTTP headers, CORS origin verification (allowing live Render frontend), and rate limiting.</a:t>
            </a:r>
          </a:p>
        </p:txBody>
      </p:sp>
      <p:sp>
        <p:nvSpPr>
          <p:cNvPr id="18" name="Rounded Rectangle 17"/>
          <p:cNvSpPr/>
          <p:nvPr/>
        </p:nvSpPr>
        <p:spPr>
          <a:xfrm>
            <a:off x="731520" y="4480560"/>
            <a:ext cx="524225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645152"/>
            <a:ext cx="4876495" cy="320040"/>
          </a:xfrm>
          <a:prstGeom prst="rect">
            <a:avLst/>
          </a:prstGeom>
          <a:noFill/>
        </p:spPr>
        <p:txBody>
          <a:bodyPr wrap="square" lIns="0" tIns="0" rIns="0" bIns="0">
            <a:spAutoFit/>
          </a:bodyPr>
          <a:lstStyle/>
          <a:p>
            <a:pPr>
              <a:defRPr sz="1200" b="1">
                <a:solidFill>
                  <a:srgbClr val="F59E0B"/>
                </a:solidFill>
              </a:defRPr>
            </a:pPr>
            <a:r>
              <a:t>5. Bounded AI Tool Calling</a:t>
            </a:r>
          </a:p>
        </p:txBody>
      </p:sp>
      <p:sp>
        <p:nvSpPr>
          <p:cNvPr id="20" name="TextBox 19"/>
          <p:cNvSpPr txBox="1"/>
          <p:nvPr/>
        </p:nvSpPr>
        <p:spPr>
          <a:xfrm>
            <a:off x="914400" y="4983480"/>
            <a:ext cx="4876495" cy="777240"/>
          </a:xfrm>
          <a:prstGeom prst="rect">
            <a:avLst/>
          </a:prstGeom>
          <a:noFill/>
        </p:spPr>
        <p:txBody>
          <a:bodyPr wrap="square">
            <a:spAutoFit/>
          </a:bodyPr>
          <a:lstStyle/>
          <a:p>
            <a:pPr>
              <a:defRPr sz="1050">
                <a:solidFill>
                  <a:srgbClr val="0F172A"/>
                </a:solidFill>
              </a:defRPr>
            </a:pPr>
            <a:r>
              <a:t>Copilot tools are strictly read-only; high-impact mutations require explicit human approval.</a:t>
            </a:r>
          </a:p>
        </p:txBody>
      </p:sp>
      <p:sp>
        <p:nvSpPr>
          <p:cNvPr id="21" name="Rounded Rectangle 20"/>
          <p:cNvSpPr/>
          <p:nvPr/>
        </p:nvSpPr>
        <p:spPr>
          <a:xfrm>
            <a:off x="6217920" y="4480560"/>
            <a:ext cx="524225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645152"/>
            <a:ext cx="4876495" cy="320040"/>
          </a:xfrm>
          <a:prstGeom prst="rect">
            <a:avLst/>
          </a:prstGeom>
          <a:noFill/>
        </p:spPr>
        <p:txBody>
          <a:bodyPr wrap="square" lIns="0" tIns="0" rIns="0" bIns="0">
            <a:spAutoFit/>
          </a:bodyPr>
          <a:lstStyle/>
          <a:p>
            <a:pPr>
              <a:defRPr sz="1200" b="1">
                <a:solidFill>
                  <a:srgbClr val="10B981"/>
                </a:solidFill>
              </a:defRPr>
            </a:pPr>
            <a:r>
              <a:t>6. Immutable Audit Logging</a:t>
            </a:r>
          </a:p>
        </p:txBody>
      </p:sp>
      <p:sp>
        <p:nvSpPr>
          <p:cNvPr id="23" name="TextBox 22"/>
          <p:cNvSpPr txBox="1"/>
          <p:nvPr/>
        </p:nvSpPr>
        <p:spPr>
          <a:xfrm>
            <a:off x="6400800" y="4983480"/>
            <a:ext cx="4876495" cy="777240"/>
          </a:xfrm>
          <a:prstGeom prst="rect">
            <a:avLst/>
          </a:prstGeom>
          <a:noFill/>
        </p:spPr>
        <p:txBody>
          <a:bodyPr wrap="square">
            <a:spAutoFit/>
          </a:bodyPr>
          <a:lstStyle/>
          <a:p>
            <a:pPr>
              <a:defRPr sz="1050">
                <a:solidFill>
                  <a:srgbClr val="0F172A"/>
                </a:solidFill>
              </a:defRPr>
            </a:pPr>
            <a:r>
              <a:t>Every mutation, login, role change, and AI proposal confirmation is logged in AuditLog.</a:t>
            </a:r>
          </a:p>
        </p:txBody>
      </p:sp>
      <p:sp>
        <p:nvSpPr>
          <p:cNvPr id="24" name="Rounded Rectangle 23"/>
          <p:cNvSpPr/>
          <p:nvPr/>
        </p:nvSpPr>
        <p:spPr>
          <a:xfrm>
            <a:off x="731520" y="4663440"/>
            <a:ext cx="10728655" cy="14630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28032"/>
            <a:ext cx="10362895" cy="320040"/>
          </a:xfrm>
          <a:prstGeom prst="rect">
            <a:avLst/>
          </a:prstGeom>
          <a:noFill/>
        </p:spPr>
        <p:txBody>
          <a:bodyPr wrap="square" lIns="0" tIns="0" rIns="0" bIns="0">
            <a:spAutoFit/>
          </a:bodyPr>
          <a:lstStyle/>
          <a:p>
            <a:pPr>
              <a:defRPr sz="1200" b="1">
                <a:solidFill>
                  <a:srgbClr val="4F46E5"/>
                </a:solidFill>
              </a:defRPr>
            </a:pPr>
            <a:r>
              <a:t>SECURITY VERIFICATION: PROVEN TENANT SEPARATION TEST</a:t>
            </a:r>
          </a:p>
        </p:txBody>
      </p:sp>
      <p:sp>
        <p:nvSpPr>
          <p:cNvPr id="26" name="TextBox 25"/>
          <p:cNvSpPr txBox="1"/>
          <p:nvPr/>
        </p:nvSpPr>
        <p:spPr>
          <a:xfrm>
            <a:off x="914400" y="5029200"/>
            <a:ext cx="10332720" cy="1005840"/>
          </a:xfrm>
          <a:prstGeom prst="rect">
            <a:avLst/>
          </a:prstGeom>
          <a:noFill/>
        </p:spPr>
        <p:txBody>
          <a:bodyPr wrap="square">
            <a:spAutoFit/>
          </a:bodyPr>
          <a:lstStyle/>
          <a:p>
            <a:pPr>
              <a:defRPr sz="1000" b="1">
                <a:solidFill>
                  <a:srgbClr val="0F172A"/>
                </a:solidFill>
              </a:defRPr>
            </a:pPr>
            <a:r>
              <a:t>In our automated test suite (auth_workspace.test.ts), we simulate Tenant A attempting to access Tenant B's CRM leads and documents using a valid Tenant A JWT. The middleware detects the workspace discrepancy and returns a 403 Forbidden or empty query result. Security is enforced strictly in backend middleware, never trusting frontend parameters.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8. TRADE-OFF ANALYSIS</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Engineering Challenges &amp; Key Technical Decisions</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9 of 15</a:t>
            </a:r>
          </a:p>
        </p:txBody>
      </p:sp>
      <p:sp>
        <p:nvSpPr>
          <p:cNvPr id="6" name="Rounded Rectangle 5"/>
          <p:cNvSpPr/>
          <p:nvPr/>
        </p:nvSpPr>
        <p:spPr>
          <a:xfrm>
            <a:off x="731520" y="1371600"/>
            <a:ext cx="107286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10362895" cy="320040"/>
          </a:xfrm>
          <a:prstGeom prst="rect">
            <a:avLst/>
          </a:prstGeom>
          <a:noFill/>
        </p:spPr>
        <p:txBody>
          <a:bodyPr wrap="square" lIns="0" tIns="0" rIns="0" bIns="0">
            <a:spAutoFit/>
          </a:bodyPr>
          <a:lstStyle/>
          <a:p>
            <a:pPr>
              <a:defRPr sz="1200" b="1">
                <a:solidFill>
                  <a:srgbClr val="4F46E5"/>
                </a:solidFill>
              </a:defRPr>
            </a:pPr>
            <a:r>
              <a:t>Preventing LLM Arithmetic Hallucinations</a:t>
            </a:r>
          </a:p>
        </p:txBody>
      </p:sp>
      <p:sp>
        <p:nvSpPr>
          <p:cNvPr id="8" name="TextBox 7"/>
          <p:cNvSpPr txBox="1"/>
          <p:nvPr/>
        </p:nvSpPr>
        <p:spPr>
          <a:xfrm>
            <a:off x="914400" y="1755648"/>
            <a:ext cx="10332720" cy="640080"/>
          </a:xfrm>
          <a:prstGeom prst="rect">
            <a:avLst/>
          </a:prstGeom>
          <a:noFill/>
        </p:spPr>
        <p:txBody>
          <a:bodyPr wrap="square">
            <a:spAutoFit/>
          </a:bodyPr>
          <a:lstStyle/>
          <a:p>
            <a:pPr>
              <a:defRPr sz="950" b="1">
                <a:solidFill>
                  <a:srgbClr val="EF4444"/>
                </a:solidFill>
              </a:defRPr>
            </a:pPr>
            <a:r>
              <a:t>Challenge: </a:t>
            </a:r>
            <a:r>
              <a:rPr b="0">
                <a:solidFill>
                  <a:srgbClr val="64748B"/>
                </a:solidFill>
              </a:rPr>
              <a:t>LLMs frequently fabricate financial numbers like MRR, burn rate, and LTV when asked general questions.</a:t>
            </a:r>
          </a:p>
          <a:p>
            <a:pPr>
              <a:spcBef>
                <a:spcPts val="200"/>
              </a:spcBef>
              <a:defRPr sz="950" b="1">
                <a:solidFill>
                  <a:srgbClr val="10B981"/>
                </a:solidFill>
              </a:defRPr>
            </a:pPr>
            <a:r>
              <a:t>Engineering Solution: </a:t>
            </a:r>
            <a:r>
              <a:rPr b="0">
                <a:solidFill>
                  <a:srgbClr val="0F172A"/>
                </a:solidFill>
              </a:rPr>
              <a:t>Strict separation: Deterministic FP&amp;A microservices compute exact financial math. AI is provided verified JSON numbers and only synthesizes qualitative commentary.</a:t>
            </a:r>
          </a:p>
        </p:txBody>
      </p:sp>
      <p:sp>
        <p:nvSpPr>
          <p:cNvPr id="9" name="Rounded Rectangle 8"/>
          <p:cNvSpPr/>
          <p:nvPr/>
        </p:nvSpPr>
        <p:spPr>
          <a:xfrm>
            <a:off x="731520" y="2560320"/>
            <a:ext cx="107286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24912"/>
            <a:ext cx="10362895" cy="320040"/>
          </a:xfrm>
          <a:prstGeom prst="rect">
            <a:avLst/>
          </a:prstGeom>
          <a:noFill/>
        </p:spPr>
        <p:txBody>
          <a:bodyPr wrap="square" lIns="0" tIns="0" rIns="0" bIns="0">
            <a:spAutoFit/>
          </a:bodyPr>
          <a:lstStyle/>
          <a:p>
            <a:pPr>
              <a:defRPr sz="1200" b="1">
                <a:solidFill>
                  <a:srgbClr val="4F46E5"/>
                </a:solidFill>
              </a:defRPr>
            </a:pPr>
            <a:r>
              <a:t>Enforcing Tenant Isolation Across Monorepo</a:t>
            </a:r>
          </a:p>
        </p:txBody>
      </p:sp>
      <p:sp>
        <p:nvSpPr>
          <p:cNvPr id="11" name="TextBox 10"/>
          <p:cNvSpPr txBox="1"/>
          <p:nvPr/>
        </p:nvSpPr>
        <p:spPr>
          <a:xfrm>
            <a:off x="914400" y="2944368"/>
            <a:ext cx="10332720" cy="640080"/>
          </a:xfrm>
          <a:prstGeom prst="rect">
            <a:avLst/>
          </a:prstGeom>
          <a:noFill/>
        </p:spPr>
        <p:txBody>
          <a:bodyPr wrap="square">
            <a:spAutoFit/>
          </a:bodyPr>
          <a:lstStyle/>
          <a:p>
            <a:pPr>
              <a:defRPr sz="950" b="1">
                <a:solidFill>
                  <a:srgbClr val="EF4444"/>
                </a:solidFill>
              </a:defRPr>
            </a:pPr>
            <a:r>
              <a:t>Challenge: </a:t>
            </a:r>
            <a:r>
              <a:rPr b="0">
                <a:solidFill>
                  <a:srgbClr val="64748B"/>
                </a:solidFill>
              </a:rPr>
              <a:t>Developers can accidentally omit workspaceId filters in MongoDB queries, risking multi-tenant data leaks.</a:t>
            </a:r>
          </a:p>
          <a:p>
            <a:pPr>
              <a:spcBef>
                <a:spcPts val="200"/>
              </a:spcBef>
              <a:defRPr sz="950" b="1">
                <a:solidFill>
                  <a:srgbClr val="10B981"/>
                </a:solidFill>
              </a:defRPr>
            </a:pPr>
            <a:r>
              <a:t>Engineering Solution: </a:t>
            </a:r>
            <a:r>
              <a:rPr b="0">
                <a:solidFill>
                  <a:srgbClr val="0F172A"/>
                </a:solidFill>
              </a:rPr>
              <a:t>Created a centralized resolveWorkspace middleware that intercepts all routes and binds req.workspace. Compound indexes on { workspaceId: 1 } enforce query performance.</a:t>
            </a:r>
          </a:p>
        </p:txBody>
      </p:sp>
      <p:sp>
        <p:nvSpPr>
          <p:cNvPr id="12" name="Rounded Rectangle 11"/>
          <p:cNvSpPr/>
          <p:nvPr/>
        </p:nvSpPr>
        <p:spPr>
          <a:xfrm>
            <a:off x="731520" y="3749039"/>
            <a:ext cx="107286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13631"/>
            <a:ext cx="10362895" cy="320040"/>
          </a:xfrm>
          <a:prstGeom prst="rect">
            <a:avLst/>
          </a:prstGeom>
          <a:noFill/>
        </p:spPr>
        <p:txBody>
          <a:bodyPr wrap="square" lIns="0" tIns="0" rIns="0" bIns="0">
            <a:spAutoFit/>
          </a:bodyPr>
          <a:lstStyle/>
          <a:p>
            <a:pPr>
              <a:defRPr sz="1200" b="1">
                <a:solidFill>
                  <a:srgbClr val="4F46E5"/>
                </a:solidFill>
              </a:defRPr>
            </a:pPr>
            <a:r>
              <a:t>Safe AI Action Execution (Human-in-the-Loop)</a:t>
            </a:r>
          </a:p>
        </p:txBody>
      </p:sp>
      <p:sp>
        <p:nvSpPr>
          <p:cNvPr id="14" name="TextBox 13"/>
          <p:cNvSpPr txBox="1"/>
          <p:nvPr/>
        </p:nvSpPr>
        <p:spPr>
          <a:xfrm>
            <a:off x="914400" y="4133087"/>
            <a:ext cx="10332720" cy="640080"/>
          </a:xfrm>
          <a:prstGeom prst="rect">
            <a:avLst/>
          </a:prstGeom>
          <a:noFill/>
        </p:spPr>
        <p:txBody>
          <a:bodyPr wrap="square">
            <a:spAutoFit/>
          </a:bodyPr>
          <a:lstStyle/>
          <a:p>
            <a:pPr>
              <a:defRPr sz="950" b="1">
                <a:solidFill>
                  <a:srgbClr val="EF4444"/>
                </a:solidFill>
              </a:defRPr>
            </a:pPr>
            <a:r>
              <a:t>Challenge: </a:t>
            </a:r>
            <a:r>
              <a:rPr b="0">
                <a:solidFill>
                  <a:srgbClr val="64748B"/>
                </a:solidFill>
              </a:rPr>
              <a:t>Allowing an LLM to autonomously create projects, tasks, or email campaigns can result in unintended mutations.</a:t>
            </a:r>
          </a:p>
          <a:p>
            <a:pPr>
              <a:spcBef>
                <a:spcPts val="200"/>
              </a:spcBef>
              <a:defRPr sz="950" b="1">
                <a:solidFill>
                  <a:srgbClr val="10B981"/>
                </a:solidFill>
              </a:defRPr>
            </a:pPr>
            <a:r>
              <a:t>Engineering Solution: </a:t>
            </a:r>
            <a:r>
              <a:rPr b="0">
                <a:solidFill>
                  <a:srgbClr val="0F172A"/>
                </a:solidFill>
              </a:rPr>
              <a:t>Engineered an ActionProposal schema. High-impact actions emit structured proposal cards in the UI that require explicit user confirmation before touching the database.</a:t>
            </a:r>
          </a:p>
        </p:txBody>
      </p:sp>
      <p:sp>
        <p:nvSpPr>
          <p:cNvPr id="15" name="Rounded Rectangle 14"/>
          <p:cNvSpPr/>
          <p:nvPr/>
        </p:nvSpPr>
        <p:spPr>
          <a:xfrm>
            <a:off x="731520" y="4937760"/>
            <a:ext cx="107286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102352"/>
            <a:ext cx="10362895" cy="320040"/>
          </a:xfrm>
          <a:prstGeom prst="rect">
            <a:avLst/>
          </a:prstGeom>
          <a:noFill/>
        </p:spPr>
        <p:txBody>
          <a:bodyPr wrap="square" lIns="0" tIns="0" rIns="0" bIns="0">
            <a:spAutoFit/>
          </a:bodyPr>
          <a:lstStyle/>
          <a:p>
            <a:pPr>
              <a:defRPr sz="1200" b="1">
                <a:solidFill>
                  <a:srgbClr val="4F46E5"/>
                </a:solidFill>
              </a:defRPr>
            </a:pPr>
            <a:r>
              <a:t>AI Provider Throttling &amp; Offline Testing</a:t>
            </a:r>
          </a:p>
        </p:txBody>
      </p:sp>
      <p:sp>
        <p:nvSpPr>
          <p:cNvPr id="17" name="TextBox 16"/>
          <p:cNvSpPr txBox="1"/>
          <p:nvPr/>
        </p:nvSpPr>
        <p:spPr>
          <a:xfrm>
            <a:off x="914400" y="5321808"/>
            <a:ext cx="10332720" cy="640080"/>
          </a:xfrm>
          <a:prstGeom prst="rect">
            <a:avLst/>
          </a:prstGeom>
          <a:noFill/>
        </p:spPr>
        <p:txBody>
          <a:bodyPr wrap="square">
            <a:spAutoFit/>
          </a:bodyPr>
          <a:lstStyle/>
          <a:p>
            <a:pPr>
              <a:defRPr sz="950" b="1">
                <a:solidFill>
                  <a:srgbClr val="EF4444"/>
                </a:solidFill>
              </a:defRPr>
            </a:pPr>
            <a:r>
              <a:t>Challenge: </a:t>
            </a:r>
            <a:r>
              <a:rPr b="0">
                <a:solidFill>
                  <a:srgbClr val="64748B"/>
                </a:solidFill>
              </a:rPr>
              <a:t>Cloud AI APIs experience quota exhaustion, 503 rate limits, and external network latency during evaluations.</a:t>
            </a:r>
          </a:p>
          <a:p>
            <a:pPr>
              <a:spcBef>
                <a:spcPts val="200"/>
              </a:spcBef>
              <a:defRPr sz="950" b="1">
                <a:solidFill>
                  <a:srgbClr val="10B981"/>
                </a:solidFill>
              </a:defRPr>
            </a:pPr>
            <a:r>
              <a:t>Engineering Solution: </a:t>
            </a:r>
            <a:r>
              <a:rPr b="0">
                <a:solidFill>
                  <a:srgbClr val="0F172A"/>
                </a:solidFill>
              </a:rPr>
              <a:t>Constructed an AI Provider Abstraction layer with seamless switching between Gemini (gemini-flash-lite-latest), OpenAI, and a zero-dependency local Mock engine.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9. QUALITY ASSURANCE</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Comprehensive Testing Strategy &amp; Verification Evidence</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10 of 15</a:t>
            </a:r>
          </a:p>
        </p:txBody>
      </p:sp>
      <p:sp>
        <p:nvSpPr>
          <p:cNvPr id="6" name="Rounded Rectangle 5"/>
          <p:cNvSpPr/>
          <p:nvPr/>
        </p:nvSpPr>
        <p:spPr>
          <a:xfrm>
            <a:off x="731520" y="137160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4754880" cy="320040"/>
          </a:xfrm>
          <a:prstGeom prst="rect">
            <a:avLst/>
          </a:prstGeom>
          <a:noFill/>
        </p:spPr>
        <p:txBody>
          <a:bodyPr wrap="square" lIns="0" tIns="0" rIns="0" bIns="0">
            <a:spAutoFit/>
          </a:bodyPr>
          <a:lstStyle/>
          <a:p>
            <a:pPr>
              <a:defRPr sz="1200" b="1">
                <a:solidFill>
                  <a:srgbClr val="2563EB"/>
                </a:solidFill>
              </a:defRPr>
            </a:pPr>
            <a:r>
              <a:t>1. Unit Testing: Financial Algorithms</a:t>
            </a:r>
          </a:p>
        </p:txBody>
      </p:sp>
      <p:sp>
        <p:nvSpPr>
          <p:cNvPr id="8" name="TextBox 7"/>
          <p:cNvSpPr txBox="1"/>
          <p:nvPr/>
        </p:nvSpPr>
        <p:spPr>
          <a:xfrm>
            <a:off x="914400" y="1828800"/>
            <a:ext cx="4754880" cy="1737360"/>
          </a:xfrm>
          <a:prstGeom prst="rect">
            <a:avLst/>
          </a:prstGeom>
          <a:noFill/>
        </p:spPr>
        <p:txBody>
          <a:bodyPr wrap="square">
            <a:spAutoFit/>
          </a:bodyPr>
          <a:lstStyle/>
          <a:p>
            <a:pPr>
              <a:defRPr sz="950" b="1">
                <a:solidFill>
                  <a:srgbClr val="0F172A"/>
                </a:solidFill>
              </a:defRPr>
            </a:pPr>
            <a:r>
              <a:t>• Test Suite: </a:t>
            </a:r>
            <a:r>
              <a:rPr b="0">
                <a:solidFill>
                  <a:srgbClr val="64748B"/>
                </a:solidFill>
              </a:rPr>
              <a:t>server/tests/unit/financial.test.ts (Jest + ts-jest)</a:t>
            </a:r>
          </a:p>
          <a:p>
            <a:pPr>
              <a:spcBef>
                <a:spcPts val="400"/>
              </a:spcBef>
              <a:defRPr sz="950" b="1">
                <a:solidFill>
                  <a:srgbClr val="0F172A"/>
                </a:solidFill>
              </a:defRPr>
            </a:pPr>
            <a:r>
              <a:t>• Coverage: </a:t>
            </a:r>
            <a:r>
              <a:rPr b="0">
                <a:solidFill>
                  <a:srgbClr val="64748B"/>
                </a:solidFill>
              </a:rPr>
              <a:t>Deterministic MRR, ARR, Net Burn Rate, and Cash Runway calculations.</a:t>
            </a:r>
          </a:p>
          <a:p>
            <a:pPr>
              <a:spcBef>
                <a:spcPts val="400"/>
              </a:spcBef>
              <a:defRPr sz="950" b="1">
                <a:solidFill>
                  <a:srgbClr val="0F172A"/>
                </a:solidFill>
              </a:defRPr>
            </a:pPr>
            <a:r>
              <a:t>• Zero Math Hallucinations: </a:t>
            </a:r>
            <a:r>
              <a:rPr b="0">
                <a:solidFill>
                  <a:srgbClr val="64748B"/>
                </a:solidFill>
              </a:rPr>
              <a:t>Verifies exact arithmetic formulas against verified historical ledgers.</a:t>
            </a:r>
          </a:p>
          <a:p>
            <a:pPr>
              <a:spcBef>
                <a:spcPts val="400"/>
              </a:spcBef>
              <a:defRPr sz="950" b="1">
                <a:solidFill>
                  <a:srgbClr val="0F172A"/>
                </a:solidFill>
              </a:defRPr>
            </a:pPr>
            <a:r>
              <a:t>• Status: </a:t>
            </a:r>
            <a:r>
              <a:rPr b="0">
                <a:solidFill>
                  <a:srgbClr val="64748B"/>
                </a:solidFill>
              </a:rPr>
              <a:t>VERIFIED &amp; PASSING (100% assertions satisfied).</a:t>
            </a:r>
          </a:p>
        </p:txBody>
      </p:sp>
      <p:sp>
        <p:nvSpPr>
          <p:cNvPr id="9" name="Rounded Rectangle 8"/>
          <p:cNvSpPr/>
          <p:nvPr/>
        </p:nvSpPr>
        <p:spPr>
          <a:xfrm>
            <a:off x="6217920" y="137160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36192"/>
            <a:ext cx="4876495" cy="320040"/>
          </a:xfrm>
          <a:prstGeom prst="rect">
            <a:avLst/>
          </a:prstGeom>
          <a:noFill/>
        </p:spPr>
        <p:txBody>
          <a:bodyPr wrap="square" lIns="0" tIns="0" rIns="0" bIns="0">
            <a:spAutoFit/>
          </a:bodyPr>
          <a:lstStyle/>
          <a:p>
            <a:pPr>
              <a:defRPr sz="1200" b="1">
                <a:solidFill>
                  <a:srgbClr val="4F46E5"/>
                </a:solidFill>
              </a:defRPr>
            </a:pPr>
            <a:r>
              <a:t>2. Integration Testing: Auth &amp; Workspaces</a:t>
            </a:r>
          </a:p>
        </p:txBody>
      </p:sp>
      <p:sp>
        <p:nvSpPr>
          <p:cNvPr id="11" name="TextBox 10"/>
          <p:cNvSpPr txBox="1"/>
          <p:nvPr/>
        </p:nvSpPr>
        <p:spPr>
          <a:xfrm>
            <a:off x="6400800" y="1828800"/>
            <a:ext cx="4876495" cy="1737360"/>
          </a:xfrm>
          <a:prstGeom prst="rect">
            <a:avLst/>
          </a:prstGeom>
          <a:noFill/>
        </p:spPr>
        <p:txBody>
          <a:bodyPr wrap="square">
            <a:spAutoFit/>
          </a:bodyPr>
          <a:lstStyle/>
          <a:p>
            <a:pPr>
              <a:defRPr sz="950" b="1">
                <a:solidFill>
                  <a:srgbClr val="0F172A"/>
                </a:solidFill>
              </a:defRPr>
            </a:pPr>
            <a:r>
              <a:t>• Test Suite: </a:t>
            </a:r>
            <a:r>
              <a:rPr b="0">
                <a:solidFill>
                  <a:srgbClr val="64748B"/>
                </a:solidFill>
              </a:rPr>
              <a:t>server/tests/integration/auth_workspace.test.ts (Supertest)</a:t>
            </a:r>
          </a:p>
          <a:p>
            <a:pPr>
              <a:spcBef>
                <a:spcPts val="400"/>
              </a:spcBef>
              <a:defRPr sz="950" b="1">
                <a:solidFill>
                  <a:srgbClr val="0F172A"/>
                </a:solidFill>
              </a:defRPr>
            </a:pPr>
            <a:r>
              <a:t>• Coverage: </a:t>
            </a:r>
            <a:r>
              <a:rPr b="0">
                <a:solidFill>
                  <a:srgbClr val="64748B"/>
                </a:solidFill>
              </a:rPr>
              <a:t>User registration, workspace creation, JWT token generation, role assignment.</a:t>
            </a:r>
          </a:p>
          <a:p>
            <a:pPr>
              <a:spcBef>
                <a:spcPts val="400"/>
              </a:spcBef>
              <a:defRPr sz="950" b="1">
                <a:solidFill>
                  <a:srgbClr val="0F172A"/>
                </a:solidFill>
              </a:defRPr>
            </a:pPr>
            <a:r>
              <a:t>• Tenant Isolation: </a:t>
            </a:r>
            <a:r>
              <a:rPr b="0">
                <a:solidFill>
                  <a:srgbClr val="64748B"/>
                </a:solidFill>
              </a:rPr>
              <a:t>Verified cross-workspace data leakage rejection (HTTP 403 / zero results).</a:t>
            </a:r>
          </a:p>
          <a:p>
            <a:pPr>
              <a:spcBef>
                <a:spcPts val="400"/>
              </a:spcBef>
              <a:defRPr sz="950" b="1">
                <a:solidFill>
                  <a:srgbClr val="0F172A"/>
                </a:solidFill>
              </a:defRPr>
            </a:pPr>
            <a:r>
              <a:t>• Status: </a:t>
            </a:r>
            <a:r>
              <a:rPr b="0">
                <a:solidFill>
                  <a:srgbClr val="64748B"/>
                </a:solidFill>
              </a:rPr>
              <a:t>VERIFIED &amp; PASSING (100% assertions satisfied).</a:t>
            </a:r>
          </a:p>
        </p:txBody>
      </p:sp>
      <p:sp>
        <p:nvSpPr>
          <p:cNvPr id="12" name="Rounded Rectangle 11"/>
          <p:cNvSpPr/>
          <p:nvPr/>
        </p:nvSpPr>
        <p:spPr>
          <a:xfrm>
            <a:off x="731520" y="384048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05072"/>
            <a:ext cx="4754880" cy="320040"/>
          </a:xfrm>
          <a:prstGeom prst="rect">
            <a:avLst/>
          </a:prstGeom>
          <a:noFill/>
        </p:spPr>
        <p:txBody>
          <a:bodyPr wrap="square" lIns="0" tIns="0" rIns="0" bIns="0">
            <a:spAutoFit/>
          </a:bodyPr>
          <a:lstStyle/>
          <a:p>
            <a:pPr>
              <a:defRPr sz="1200" b="1">
                <a:solidFill>
                  <a:srgbClr val="10B981"/>
                </a:solidFill>
              </a:defRPr>
            </a:pPr>
            <a:r>
              <a:t>3. End-to-End User Journeys Suite</a:t>
            </a:r>
          </a:p>
        </p:txBody>
      </p:sp>
      <p:sp>
        <p:nvSpPr>
          <p:cNvPr id="14" name="TextBox 13"/>
          <p:cNvSpPr txBox="1"/>
          <p:nvPr/>
        </p:nvSpPr>
        <p:spPr>
          <a:xfrm>
            <a:off x="914400" y="4297680"/>
            <a:ext cx="4754880" cy="1737360"/>
          </a:xfrm>
          <a:prstGeom prst="rect">
            <a:avLst/>
          </a:prstGeom>
          <a:noFill/>
        </p:spPr>
        <p:txBody>
          <a:bodyPr wrap="square">
            <a:spAutoFit/>
          </a:bodyPr>
          <a:lstStyle/>
          <a:p>
            <a:pPr>
              <a:defRPr sz="950" b="1">
                <a:solidFill>
                  <a:srgbClr val="0F172A"/>
                </a:solidFill>
              </a:defRPr>
            </a:pPr>
            <a:r>
              <a:t>• Test Suite: </a:t>
            </a:r>
            <a:r>
              <a:rPr b="0">
                <a:solidFill>
                  <a:srgbClr val="64748B"/>
                </a:solidFill>
              </a:rPr>
              <a:t>server/tests/integration/journeys.test.ts</a:t>
            </a:r>
          </a:p>
          <a:p>
            <a:pPr>
              <a:spcBef>
                <a:spcPts val="400"/>
              </a:spcBef>
              <a:defRPr sz="950" b="1">
                <a:solidFill>
                  <a:srgbClr val="0F172A"/>
                </a:solidFill>
              </a:defRPr>
            </a:pPr>
            <a:r>
              <a:t>• The Critical Flow: </a:t>
            </a:r>
            <a:r>
              <a:rPr b="0">
                <a:solidFill>
                  <a:srgbClr val="64748B"/>
                </a:solidFill>
              </a:rPr>
              <a:t>Register ➔ Login ➔ Create Workspace ➔ Add Lead ➔ AI Score Lead ➔ Create Project Task ➔ Complete Task ➔ Dashboard Update.</a:t>
            </a:r>
          </a:p>
          <a:p>
            <a:pPr>
              <a:spcBef>
                <a:spcPts val="400"/>
              </a:spcBef>
              <a:defRPr sz="950" b="1">
                <a:solidFill>
                  <a:srgbClr val="0F172A"/>
                </a:solidFill>
              </a:defRPr>
            </a:pPr>
            <a:r>
              <a:t>• Status: </a:t>
            </a:r>
            <a:r>
              <a:rPr b="0">
                <a:solidFill>
                  <a:srgbClr val="64748B"/>
                </a:solidFill>
              </a:rPr>
              <a:t>VERIFIED &amp; PASSING (9/9 automated test suites passing).</a:t>
            </a:r>
          </a:p>
        </p:txBody>
      </p:sp>
      <p:sp>
        <p:nvSpPr>
          <p:cNvPr id="15" name="Rounded Rectangle 14"/>
          <p:cNvSpPr/>
          <p:nvPr/>
        </p:nvSpPr>
        <p:spPr>
          <a:xfrm>
            <a:off x="6217920" y="384048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005072"/>
            <a:ext cx="4876495" cy="320040"/>
          </a:xfrm>
          <a:prstGeom prst="rect">
            <a:avLst/>
          </a:prstGeom>
          <a:noFill/>
        </p:spPr>
        <p:txBody>
          <a:bodyPr wrap="square" lIns="0" tIns="0" rIns="0" bIns="0">
            <a:spAutoFit/>
          </a:bodyPr>
          <a:lstStyle/>
          <a:p>
            <a:pPr>
              <a:defRPr sz="1200" b="1">
                <a:solidFill>
                  <a:srgbClr val="F59E0B"/>
                </a:solidFill>
              </a:defRPr>
            </a:pPr>
            <a:r>
              <a:t>4. Automated Script Verification</a:t>
            </a:r>
          </a:p>
        </p:txBody>
      </p:sp>
      <p:sp>
        <p:nvSpPr>
          <p:cNvPr id="17" name="TextBox 16"/>
          <p:cNvSpPr txBox="1"/>
          <p:nvPr/>
        </p:nvSpPr>
        <p:spPr>
          <a:xfrm>
            <a:off x="6400800" y="4297680"/>
            <a:ext cx="4876495" cy="1737360"/>
          </a:xfrm>
          <a:prstGeom prst="rect">
            <a:avLst/>
          </a:prstGeom>
          <a:noFill/>
        </p:spPr>
        <p:txBody>
          <a:bodyPr wrap="square">
            <a:spAutoFit/>
          </a:bodyPr>
          <a:lstStyle/>
          <a:p>
            <a:pPr>
              <a:defRPr sz="950" b="1">
                <a:solidFill>
                  <a:srgbClr val="0F172A"/>
                </a:solidFill>
              </a:defRPr>
            </a:pPr>
            <a:r>
              <a:t>• AI Planner Verification: </a:t>
            </a:r>
            <a:r>
              <a:rPr b="0">
                <a:solidFill>
                  <a:srgbClr val="64748B"/>
                </a:solidFill>
              </a:rPr>
              <a:t>verify-ai-planner.js tested end-to-end WBS generation and DB task creation.</a:t>
            </a:r>
          </a:p>
          <a:p>
            <a:pPr>
              <a:spcBef>
                <a:spcPts val="400"/>
              </a:spcBef>
              <a:defRPr sz="950" b="1">
                <a:solidFill>
                  <a:srgbClr val="0F172A"/>
                </a:solidFill>
              </a:defRPr>
            </a:pPr>
            <a:r>
              <a:t>• Copilot Verification: </a:t>
            </a:r>
            <a:r>
              <a:rPr b="0">
                <a:solidFill>
                  <a:srgbClr val="64748B"/>
                </a:solidFill>
              </a:rPr>
              <a:t>verify-copilot.js verified 10/10 scenarios including tool calling, context, and fallback.</a:t>
            </a:r>
          </a:p>
          <a:p>
            <a:pPr>
              <a:spcBef>
                <a:spcPts val="400"/>
              </a:spcBef>
              <a:defRPr sz="950" b="1">
                <a:solidFill>
                  <a:srgbClr val="0F172A"/>
                </a:solidFill>
              </a:defRPr>
            </a:pPr>
            <a:r>
              <a:t>• Production Health Test: </a:t>
            </a:r>
            <a:r>
              <a:rPr b="0">
                <a:solidFill>
                  <a:srgbClr val="64748B"/>
                </a:solidFill>
              </a:rPr>
              <a:t>Live HTTP 200 responses verified on Render backend and MongoDB Atlas.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10. PRODUCTION INFRASTRUCTURE</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Cloud Deployment &amp; Production Infrastructure</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11 of 15</a:t>
            </a:r>
          </a:p>
        </p:txBody>
      </p:sp>
      <p:sp>
        <p:nvSpPr>
          <p:cNvPr id="6" name="Rounded Rectangle 5"/>
          <p:cNvSpPr/>
          <p:nvPr/>
        </p:nvSpPr>
        <p:spPr>
          <a:xfrm>
            <a:off x="731520" y="137160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4754880" cy="320040"/>
          </a:xfrm>
          <a:prstGeom prst="rect">
            <a:avLst/>
          </a:prstGeom>
          <a:noFill/>
        </p:spPr>
        <p:txBody>
          <a:bodyPr wrap="square" lIns="0" tIns="0" rIns="0" bIns="0">
            <a:spAutoFit/>
          </a:bodyPr>
          <a:lstStyle/>
          <a:p>
            <a:pPr>
              <a:defRPr sz="1200" b="1">
                <a:solidFill>
                  <a:srgbClr val="10B981"/>
                </a:solidFill>
              </a:defRPr>
            </a:pPr>
            <a:r>
              <a:t>Verified Live Production Endpoints</a:t>
            </a:r>
          </a:p>
        </p:txBody>
      </p:sp>
      <p:sp>
        <p:nvSpPr>
          <p:cNvPr id="8" name="TextBox 7"/>
          <p:cNvSpPr txBox="1"/>
          <p:nvPr/>
        </p:nvSpPr>
        <p:spPr>
          <a:xfrm>
            <a:off x="914400" y="1828800"/>
            <a:ext cx="4754880" cy="4114800"/>
          </a:xfrm>
          <a:prstGeom prst="rect">
            <a:avLst/>
          </a:prstGeom>
          <a:noFill/>
        </p:spPr>
        <p:txBody>
          <a:bodyPr wrap="square">
            <a:spAutoFit/>
          </a:bodyPr>
          <a:lstStyle/>
          <a:p>
            <a:pPr>
              <a:defRPr sz="1000" b="1">
                <a:solidFill>
                  <a:srgbClr val="4F46E5"/>
                </a:solidFill>
              </a:defRPr>
            </a:pPr>
            <a:r>
              <a:t>Live Frontend Application (Render Static Site)</a:t>
            </a:r>
            <a:br/>
            <a:r>
              <a:rPr sz="950" b="0">
                <a:solidFill>
                  <a:srgbClr val="64748B"/>
                </a:solidFill>
              </a:rPr>
              <a:t>URL: https://ventureos-app.onrender.com
Configured with SPA rewrite rules (/* -&gt; /index.html) so deep links refresh cleanly without 404s. Communicates with API via VITE_API_URL.</a:t>
            </a:r>
          </a:p>
          <a:p>
            <a:pPr>
              <a:spcBef>
                <a:spcPts val="800"/>
              </a:spcBef>
              <a:defRPr sz="1000" b="1">
                <a:solidFill>
                  <a:srgbClr val="4F46E5"/>
                </a:solidFill>
              </a:defRPr>
            </a:pPr>
            <a:r>
              <a:t>Live Backend Web Service (Render)</a:t>
            </a:r>
            <a:br/>
            <a:r>
              <a:rPr sz="950" b="0">
                <a:solidFill>
                  <a:srgbClr val="64748B"/>
                </a:solidFill>
              </a:rPr>
              <a:t>URL: https://venture-os-nh3b.onrender.com
Node.js 22 runtime listening on 0.0.0.0:10000. Verified live health endpoint: /api/health returns HTTP 200 OK with aiProvider: gemini.</a:t>
            </a:r>
          </a:p>
          <a:p>
            <a:pPr>
              <a:spcBef>
                <a:spcPts val="800"/>
              </a:spcBef>
              <a:defRPr sz="1000" b="1">
                <a:solidFill>
                  <a:srgbClr val="4F46E5"/>
                </a:solidFill>
              </a:defRPr>
            </a:pPr>
            <a:r>
              <a:t>Cloud Database (MongoDB Atlas)</a:t>
            </a:r>
            <a:br/>
            <a:r>
              <a:rPr sz="950" b="0">
                <a:solidFill>
                  <a:srgbClr val="64748B"/>
                </a:solidFill>
              </a:rPr>
              <a:t>Cluster: cluster0.1h8d3vm.mongodb.net/ventureos
Production Replica Set with TLS 1.3 encryption, network IP access, and pre-seeded realistic business datasets across 20 collections.</a:t>
            </a:r>
          </a:p>
          <a:p>
            <a:pPr>
              <a:spcBef>
                <a:spcPts val="800"/>
              </a:spcBef>
              <a:defRPr sz="1000" b="1">
                <a:solidFill>
                  <a:srgbClr val="4F46E5"/>
                </a:solidFill>
              </a:defRPr>
            </a:pPr>
            <a:r>
              <a:t>Automated CI/CD Pipeline</a:t>
            </a:r>
            <a:br/>
            <a:r>
              <a:rPr sz="950" b="0">
                <a:solidFill>
                  <a:srgbClr val="64748B"/>
                </a:solidFill>
              </a:rPr>
              <a:t>GitHub repository ToobaFarhat/venture-os is connected directly to Render for automated deployment on every git push to the main branch.</a:t>
            </a:r>
          </a:p>
        </p:txBody>
      </p:sp>
      <p:sp>
        <p:nvSpPr>
          <p:cNvPr id="9" name="Rounded Rectangle 8"/>
          <p:cNvSpPr/>
          <p:nvPr/>
        </p:nvSpPr>
        <p:spPr>
          <a:xfrm>
            <a:off x="6217920" y="1371600"/>
            <a:ext cx="5242255"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36192"/>
            <a:ext cx="4876495" cy="320040"/>
          </a:xfrm>
          <a:prstGeom prst="rect">
            <a:avLst/>
          </a:prstGeom>
          <a:noFill/>
        </p:spPr>
        <p:txBody>
          <a:bodyPr wrap="square" lIns="0" tIns="0" rIns="0" bIns="0">
            <a:spAutoFit/>
          </a:bodyPr>
          <a:lstStyle/>
          <a:p>
            <a:pPr>
              <a:defRPr sz="1200" b="1">
                <a:solidFill>
                  <a:srgbClr val="4F46E5"/>
                </a:solidFill>
              </a:defRPr>
            </a:pPr>
            <a:r>
              <a:t>Production Hardening &amp; Configuration</a:t>
            </a:r>
          </a:p>
        </p:txBody>
      </p:sp>
      <p:sp>
        <p:nvSpPr>
          <p:cNvPr id="11" name="TextBox 10"/>
          <p:cNvSpPr txBox="1"/>
          <p:nvPr/>
        </p:nvSpPr>
        <p:spPr>
          <a:xfrm>
            <a:off x="6400800" y="1828800"/>
            <a:ext cx="4876495" cy="4114800"/>
          </a:xfrm>
          <a:prstGeom prst="rect">
            <a:avLst/>
          </a:prstGeom>
          <a:noFill/>
        </p:spPr>
        <p:txBody>
          <a:bodyPr wrap="square">
            <a:spAutoFit/>
          </a:bodyPr>
          <a:lstStyle/>
          <a:p>
            <a:pPr>
              <a:defRPr sz="950" b="1">
                <a:solidFill>
                  <a:srgbClr val="0F172A"/>
                </a:solidFill>
              </a:defRPr>
            </a:pPr>
            <a:r>
              <a:t>• Zero Secrets Committed: </a:t>
            </a:r>
            <a:r>
              <a:rPr b="0">
                <a:solidFill>
                  <a:srgbClr val="64748B"/>
                </a:solidFill>
              </a:rPr>
              <a:t>Strict .gitignore enforcement. Real API keys, JWT secrets, and database credentials exist only inside Render's secure environment variable dashboard.</a:t>
            </a:r>
          </a:p>
          <a:p>
            <a:pPr>
              <a:spcBef>
                <a:spcPts val="600"/>
              </a:spcBef>
              <a:defRPr sz="950" b="1">
                <a:solidFill>
                  <a:srgbClr val="0F172A"/>
                </a:solidFill>
              </a:defRPr>
            </a:pPr>
            <a:r>
              <a:t>• Dynamic CORS Origin Policy: </a:t>
            </a:r>
            <a:r>
              <a:rPr b="0">
                <a:solidFill>
                  <a:srgbClr val="64748B"/>
                </a:solidFill>
              </a:rPr>
              <a:t>Configured to allow the live https://ventureos-app.onrender.com frontend domain while permitting localhost for local engineering.</a:t>
            </a:r>
          </a:p>
          <a:p>
            <a:pPr>
              <a:spcBef>
                <a:spcPts val="600"/>
              </a:spcBef>
              <a:defRPr sz="950" b="1">
                <a:solidFill>
                  <a:srgbClr val="0F172A"/>
                </a:solidFill>
              </a:defRPr>
            </a:pPr>
            <a:r>
              <a:t>• Host Binding 0.0.0.0: </a:t>
            </a:r>
            <a:r>
              <a:rPr b="0">
                <a:solidFill>
                  <a:srgbClr val="64748B"/>
                </a:solidFill>
              </a:rPr>
              <a:t>Explicitly bound to 0.0.0.0 for compatibility with containerized cloud ingress proxies.</a:t>
            </a:r>
          </a:p>
          <a:p>
            <a:pPr>
              <a:spcBef>
                <a:spcPts val="600"/>
              </a:spcBef>
              <a:defRPr sz="950" b="1">
                <a:solidFill>
                  <a:srgbClr val="0F172A"/>
                </a:solidFill>
              </a:defRPr>
            </a:pPr>
            <a:r>
              <a:t>• Type Safety in Production Builds: </a:t>
            </a:r>
            <a:r>
              <a:rPr b="0">
                <a:solidFill>
                  <a:srgbClr val="64748B"/>
                </a:solidFill>
              </a:rPr>
              <a:t>TypeScript compiler and type definitions bundled into dependencies to prevent build-time missing module errors under NODE_ENV=production.</a:t>
            </a:r>
          </a:p>
          <a:p>
            <a:pPr>
              <a:spcBef>
                <a:spcPts val="600"/>
              </a:spcBef>
              <a:defRPr sz="950" b="1">
                <a:solidFill>
                  <a:srgbClr val="0F172A"/>
                </a:solidFill>
              </a:defRPr>
            </a:pPr>
            <a:r>
              <a:t>• Cloud Limitations &amp; Cold Starts: </a:t>
            </a:r>
            <a:r>
              <a:rPr b="0">
                <a:solidFill>
                  <a:srgbClr val="64748B"/>
                </a:solidFill>
              </a:rPr>
              <a:t>Free tier Render web services enter sleep mode after 15 minutes of inactivity; initial wakeup takes ~30-40 seconds, after which responses are instantaneous.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11. PRODUCT WALKTHROUGH</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End-to-End Business Journey: Risk to Remediation</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12 of 15</a:t>
            </a:r>
          </a:p>
        </p:txBody>
      </p:sp>
      <p:sp>
        <p:nvSpPr>
          <p:cNvPr id="6" name="Rounded Rectangle 5"/>
          <p:cNvSpPr/>
          <p:nvPr/>
        </p:nvSpPr>
        <p:spPr>
          <a:xfrm>
            <a:off x="731520" y="1371600"/>
            <a:ext cx="107286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81328"/>
            <a:ext cx="10332720" cy="548640"/>
          </a:xfrm>
          <a:prstGeom prst="rect">
            <a:avLst/>
          </a:prstGeom>
          <a:noFill/>
        </p:spPr>
        <p:txBody>
          <a:bodyPr wrap="square">
            <a:spAutoFit/>
          </a:bodyPr>
          <a:lstStyle/>
          <a:p>
            <a:pPr>
              <a:defRPr sz="1050" b="1">
                <a:solidFill>
                  <a:srgbClr val="4F46E5"/>
                </a:solidFill>
              </a:defRPr>
            </a:pPr>
            <a:r>
              <a:t>Step 1: Risk Identification: </a:t>
            </a:r>
            <a:r>
              <a:rPr sz="1000" b="0">
                <a:solidFill>
                  <a:srgbClr val="0F172A"/>
                </a:solidFill>
              </a:rPr>
              <a:t>The Cross-Module Risk Center aggregates a deal stagnation alert in CRM and a drop in customer satisfaction sentiment for 'Acme Corp'.</a:t>
            </a:r>
          </a:p>
        </p:txBody>
      </p:sp>
      <p:sp>
        <p:nvSpPr>
          <p:cNvPr id="8" name="Rounded Rectangle 7"/>
          <p:cNvSpPr/>
          <p:nvPr/>
        </p:nvSpPr>
        <p:spPr>
          <a:xfrm>
            <a:off x="731520" y="2194560"/>
            <a:ext cx="107286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04288"/>
            <a:ext cx="10332720" cy="548640"/>
          </a:xfrm>
          <a:prstGeom prst="rect">
            <a:avLst/>
          </a:prstGeom>
          <a:noFill/>
        </p:spPr>
        <p:txBody>
          <a:bodyPr wrap="square">
            <a:spAutoFit/>
          </a:bodyPr>
          <a:lstStyle/>
          <a:p>
            <a:pPr>
              <a:defRPr sz="1050" b="1">
                <a:solidFill>
                  <a:srgbClr val="4F46E5"/>
                </a:solidFill>
              </a:defRPr>
            </a:pPr>
            <a:r>
              <a:t>Step 2: Deep Context Inspection: </a:t>
            </a:r>
            <a:r>
              <a:rPr sz="1000" b="0">
                <a:solidFill>
                  <a:srgbClr val="0F172A"/>
                </a:solidFill>
              </a:rPr>
              <a:t>The operator opens the AI Copilot drawer. The Copilot queries MongoDB via getCustomers and getSalesPipeline tools to verify account history.</a:t>
            </a:r>
          </a:p>
        </p:txBody>
      </p:sp>
      <p:sp>
        <p:nvSpPr>
          <p:cNvPr id="10" name="Rounded Rectangle 9"/>
          <p:cNvSpPr/>
          <p:nvPr/>
        </p:nvSpPr>
        <p:spPr>
          <a:xfrm>
            <a:off x="731520" y="3017520"/>
            <a:ext cx="107286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27248"/>
            <a:ext cx="10332720" cy="548640"/>
          </a:xfrm>
          <a:prstGeom prst="rect">
            <a:avLst/>
          </a:prstGeom>
          <a:noFill/>
        </p:spPr>
        <p:txBody>
          <a:bodyPr wrap="square">
            <a:spAutoFit/>
          </a:bodyPr>
          <a:lstStyle/>
          <a:p>
            <a:pPr>
              <a:defRPr sz="1050" b="1">
                <a:solidFill>
                  <a:srgbClr val="4F46E5"/>
                </a:solidFill>
              </a:defRPr>
            </a:pPr>
            <a:r>
              <a:t>Step 3: Strategic Recommendation: </a:t>
            </a:r>
            <a:r>
              <a:rPr sz="1000" b="0">
                <a:solidFill>
                  <a:srgbClr val="0F172A"/>
                </a:solidFill>
              </a:rPr>
              <a:t>The Copilot synthesizes: 'Acme Corp has a high ARR value ($4,500/mo) but has logged 2 unresolved billing tickets and engagement is down 35%.'</a:t>
            </a:r>
          </a:p>
        </p:txBody>
      </p:sp>
      <p:sp>
        <p:nvSpPr>
          <p:cNvPr id="12" name="Rounded Rectangle 11"/>
          <p:cNvSpPr/>
          <p:nvPr/>
        </p:nvSpPr>
        <p:spPr>
          <a:xfrm>
            <a:off x="731520" y="3840480"/>
            <a:ext cx="107286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50208"/>
            <a:ext cx="10332720" cy="548640"/>
          </a:xfrm>
          <a:prstGeom prst="rect">
            <a:avLst/>
          </a:prstGeom>
          <a:noFill/>
        </p:spPr>
        <p:txBody>
          <a:bodyPr wrap="square">
            <a:spAutoFit/>
          </a:bodyPr>
          <a:lstStyle/>
          <a:p>
            <a:pPr>
              <a:defRPr sz="1050" b="1">
                <a:solidFill>
                  <a:srgbClr val="4F46E5"/>
                </a:solidFill>
              </a:defRPr>
            </a:pPr>
            <a:r>
              <a:t>Step 4: Structured Action Proposal: </a:t>
            </a:r>
            <a:r>
              <a:rPr sz="1000" b="0">
                <a:solidFill>
                  <a:srgbClr val="0F172A"/>
                </a:solidFill>
              </a:rPr>
              <a:t>The Copilot renders an ActionProposal card: 'Create High-Priority Customer Outreach Project with Milestone: Resolve Invoice Discrepancy'.</a:t>
            </a:r>
          </a:p>
        </p:txBody>
      </p:sp>
      <p:sp>
        <p:nvSpPr>
          <p:cNvPr id="14" name="Rounded Rectangle 13"/>
          <p:cNvSpPr/>
          <p:nvPr/>
        </p:nvSpPr>
        <p:spPr>
          <a:xfrm>
            <a:off x="731520" y="4663440"/>
            <a:ext cx="107286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73168"/>
            <a:ext cx="10332720" cy="548640"/>
          </a:xfrm>
          <a:prstGeom prst="rect">
            <a:avLst/>
          </a:prstGeom>
          <a:noFill/>
        </p:spPr>
        <p:txBody>
          <a:bodyPr wrap="square">
            <a:spAutoFit/>
          </a:bodyPr>
          <a:lstStyle/>
          <a:p>
            <a:pPr>
              <a:defRPr sz="1050" b="1">
                <a:solidFill>
                  <a:srgbClr val="4F46E5"/>
                </a:solidFill>
              </a:defRPr>
            </a:pPr>
            <a:r>
              <a:t>Step 5: Human Review &amp; Confirmation: </a:t>
            </a:r>
            <a:r>
              <a:rPr sz="1000" b="0">
                <a:solidFill>
                  <a:srgbClr val="0F172A"/>
                </a:solidFill>
              </a:rPr>
              <a:t>The operator inspects the proposed task assignees, due dates, and priority in the ActionApprovalModal and clicks 'Confirm Action'.</a:t>
            </a:r>
          </a:p>
        </p:txBody>
      </p:sp>
      <p:sp>
        <p:nvSpPr>
          <p:cNvPr id="16" name="Rounded Rectangle 15"/>
          <p:cNvSpPr/>
          <p:nvPr/>
        </p:nvSpPr>
        <p:spPr>
          <a:xfrm>
            <a:off x="731520" y="5486400"/>
            <a:ext cx="10728655" cy="749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596128"/>
            <a:ext cx="10332720" cy="548640"/>
          </a:xfrm>
          <a:prstGeom prst="rect">
            <a:avLst/>
          </a:prstGeom>
          <a:noFill/>
        </p:spPr>
        <p:txBody>
          <a:bodyPr wrap="square">
            <a:spAutoFit/>
          </a:bodyPr>
          <a:lstStyle/>
          <a:p>
            <a:pPr>
              <a:defRPr sz="1050" b="1">
                <a:solidFill>
                  <a:srgbClr val="4F46E5"/>
                </a:solidFill>
              </a:defRPr>
            </a:pPr>
            <a:r>
              <a:t>Step 6: Database Execution &amp; Telemetry: </a:t>
            </a:r>
            <a:r>
              <a:rPr sz="1000" b="0">
                <a:solidFill>
                  <a:srgbClr val="0F172A"/>
                </a:solidFill>
              </a:rPr>
              <a:t>The server creates the Project and Task records in MongoDB, logs the mutation in AuditLog, meters token usage, and notifies the team.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12. RELIABILITY ENGINEERING</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Performance Optimization &amp; Fault Tolerance</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13 of 15</a:t>
            </a:r>
          </a:p>
        </p:txBody>
      </p:sp>
      <p:sp>
        <p:nvSpPr>
          <p:cNvPr id="6" name="Rounded Rectangle 5"/>
          <p:cNvSpPr/>
          <p:nvPr/>
        </p:nvSpPr>
        <p:spPr>
          <a:xfrm>
            <a:off x="731520" y="137160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4754880" cy="320040"/>
          </a:xfrm>
          <a:prstGeom prst="rect">
            <a:avLst/>
          </a:prstGeom>
          <a:noFill/>
        </p:spPr>
        <p:txBody>
          <a:bodyPr wrap="square" lIns="0" tIns="0" rIns="0" bIns="0">
            <a:spAutoFit/>
          </a:bodyPr>
          <a:lstStyle/>
          <a:p>
            <a:pPr>
              <a:defRPr sz="1200" b="1">
                <a:solidFill>
                  <a:srgbClr val="2563EB"/>
                </a:solidFill>
              </a:defRPr>
            </a:pPr>
            <a:r>
              <a:t>1. Database Query Optimization</a:t>
            </a:r>
          </a:p>
        </p:txBody>
      </p:sp>
      <p:sp>
        <p:nvSpPr>
          <p:cNvPr id="8" name="TextBox 7"/>
          <p:cNvSpPr txBox="1"/>
          <p:nvPr/>
        </p:nvSpPr>
        <p:spPr>
          <a:xfrm>
            <a:off x="914400" y="1828800"/>
            <a:ext cx="4754880" cy="1737360"/>
          </a:xfrm>
          <a:prstGeom prst="rect">
            <a:avLst/>
          </a:prstGeom>
          <a:noFill/>
        </p:spPr>
        <p:txBody>
          <a:bodyPr wrap="square">
            <a:spAutoFit/>
          </a:bodyPr>
          <a:lstStyle/>
          <a:p>
            <a:pPr>
              <a:defRPr sz="950" b="1">
                <a:solidFill>
                  <a:srgbClr val="0F172A"/>
                </a:solidFill>
              </a:defRPr>
            </a:pPr>
            <a:r>
              <a:t>• Compound Indexing: </a:t>
            </a:r>
            <a:r>
              <a:rPr b="0">
                <a:solidFill>
                  <a:srgbClr val="64748B"/>
                </a:solidFill>
              </a:rPr>
              <a:t>{ workspaceId: 1, createdAt: -1 } eliminates full collection scans on large datasets.</a:t>
            </a:r>
          </a:p>
          <a:p>
            <a:pPr>
              <a:spcBef>
                <a:spcPts val="400"/>
              </a:spcBef>
              <a:defRPr sz="950" b="1">
                <a:solidFill>
                  <a:srgbClr val="0F172A"/>
                </a:solidFill>
              </a:defRPr>
            </a:pPr>
            <a:r>
              <a:t>• Selective Field Projections: </a:t>
            </a:r>
            <a:r>
              <a:rPr b="0">
                <a:solidFill>
                  <a:srgbClr val="64748B"/>
                </a:solidFill>
              </a:rPr>
              <a:t>Queries fetch only required fields (e.g. omitting heavy transcript fields in list views).</a:t>
            </a:r>
          </a:p>
          <a:p>
            <a:pPr>
              <a:spcBef>
                <a:spcPts val="400"/>
              </a:spcBef>
              <a:defRPr sz="950" b="1">
                <a:solidFill>
                  <a:srgbClr val="0F172A"/>
                </a:solidFill>
              </a:defRPr>
            </a:pPr>
            <a:r>
              <a:t>• Mongoose Lean Queries: </a:t>
            </a:r>
            <a:r>
              <a:rPr b="0">
                <a:solidFill>
                  <a:srgbClr val="64748B"/>
                </a:solidFill>
              </a:rPr>
              <a:t>Uses .lean() for read-only aggregation queries to bypass Mongoose document hydration overhead.</a:t>
            </a:r>
          </a:p>
          <a:p>
            <a:pPr>
              <a:spcBef>
                <a:spcPts val="400"/>
              </a:spcBef>
              <a:defRPr sz="950" b="1">
                <a:solidFill>
                  <a:srgbClr val="0F172A"/>
                </a:solidFill>
              </a:defRPr>
            </a:pPr>
            <a:r>
              <a:t>• Server-Side Pagination: </a:t>
            </a:r>
            <a:r>
              <a:rPr b="0">
                <a:solidFill>
                  <a:srgbClr val="64748B"/>
                </a:solidFill>
              </a:rPr>
              <a:t>Enforced on Leads, Transactions, and Audit Logs (default 20 records/page).</a:t>
            </a:r>
          </a:p>
        </p:txBody>
      </p:sp>
      <p:sp>
        <p:nvSpPr>
          <p:cNvPr id="9" name="Rounded Rectangle 8"/>
          <p:cNvSpPr/>
          <p:nvPr/>
        </p:nvSpPr>
        <p:spPr>
          <a:xfrm>
            <a:off x="6217920" y="137160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36192"/>
            <a:ext cx="4876495" cy="320040"/>
          </a:xfrm>
          <a:prstGeom prst="rect">
            <a:avLst/>
          </a:prstGeom>
          <a:noFill/>
        </p:spPr>
        <p:txBody>
          <a:bodyPr wrap="square" lIns="0" tIns="0" rIns="0" bIns="0">
            <a:spAutoFit/>
          </a:bodyPr>
          <a:lstStyle/>
          <a:p>
            <a:pPr>
              <a:defRPr sz="1200" b="1">
                <a:solidFill>
                  <a:srgbClr val="4F46E5"/>
                </a:solidFill>
              </a:defRPr>
            </a:pPr>
            <a:r>
              <a:t>2. Frontend Caching &amp; Bundle Size</a:t>
            </a:r>
          </a:p>
        </p:txBody>
      </p:sp>
      <p:sp>
        <p:nvSpPr>
          <p:cNvPr id="11" name="TextBox 10"/>
          <p:cNvSpPr txBox="1"/>
          <p:nvPr/>
        </p:nvSpPr>
        <p:spPr>
          <a:xfrm>
            <a:off x="6400800" y="1828800"/>
            <a:ext cx="4876495" cy="1737360"/>
          </a:xfrm>
          <a:prstGeom prst="rect">
            <a:avLst/>
          </a:prstGeom>
          <a:noFill/>
        </p:spPr>
        <p:txBody>
          <a:bodyPr wrap="square">
            <a:spAutoFit/>
          </a:bodyPr>
          <a:lstStyle/>
          <a:p>
            <a:pPr>
              <a:defRPr sz="950" b="1">
                <a:solidFill>
                  <a:srgbClr val="0F172A"/>
                </a:solidFill>
              </a:defRPr>
            </a:pPr>
            <a:r>
              <a:t>• TanStack React Query: </a:t>
            </a:r>
            <a:r>
              <a:rPr b="0">
                <a:solidFill>
                  <a:srgbClr val="64748B"/>
                </a:solidFill>
              </a:rPr>
              <a:t>Client-side request deduplication, cache invalidation, and background data synchronization.</a:t>
            </a:r>
          </a:p>
          <a:p>
            <a:pPr>
              <a:spcBef>
                <a:spcPts val="400"/>
              </a:spcBef>
              <a:defRPr sz="950" b="1">
                <a:solidFill>
                  <a:srgbClr val="0F172A"/>
                </a:solidFill>
              </a:defRPr>
            </a:pPr>
            <a:r>
              <a:t>• Optimized Vite Bundler: </a:t>
            </a:r>
            <a:r>
              <a:rPr b="0">
                <a:solidFill>
                  <a:srgbClr val="64748B"/>
                </a:solidFill>
              </a:rPr>
              <a:t>Code minification, CSS purging, and asset hashing producing compact gzip asset bundles (~245KB).</a:t>
            </a:r>
          </a:p>
          <a:p>
            <a:pPr>
              <a:spcBef>
                <a:spcPts val="400"/>
              </a:spcBef>
              <a:defRPr sz="950" b="1">
                <a:solidFill>
                  <a:srgbClr val="0F172A"/>
                </a:solidFill>
              </a:defRPr>
            </a:pPr>
            <a:r>
              <a:t>• Theme Anti-Flash: </a:t>
            </a:r>
            <a:r>
              <a:rPr b="0">
                <a:solidFill>
                  <a:srgbClr val="64748B"/>
                </a:solidFill>
              </a:rPr>
              <a:t>Inline script in index.html reads localStorage theme before React mounts to eliminate white flash.</a:t>
            </a:r>
          </a:p>
          <a:p>
            <a:pPr>
              <a:spcBef>
                <a:spcPts val="400"/>
              </a:spcBef>
              <a:defRPr sz="950" b="1">
                <a:solidFill>
                  <a:srgbClr val="0F172A"/>
                </a:solidFill>
              </a:defRPr>
            </a:pPr>
            <a:r>
              <a:t>• Responsive Tailwind UI: </a:t>
            </a:r>
            <a:r>
              <a:rPr b="0">
                <a:solidFill>
                  <a:srgbClr val="64748B"/>
                </a:solidFill>
              </a:rPr>
              <a:t>Mobile-optimized breakpoints and accessible keyboard navigation.</a:t>
            </a:r>
          </a:p>
        </p:txBody>
      </p:sp>
      <p:sp>
        <p:nvSpPr>
          <p:cNvPr id="12" name="Rounded Rectangle 11"/>
          <p:cNvSpPr/>
          <p:nvPr/>
        </p:nvSpPr>
        <p:spPr>
          <a:xfrm>
            <a:off x="731520" y="3840480"/>
            <a:ext cx="512064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05072"/>
            <a:ext cx="4754880" cy="320040"/>
          </a:xfrm>
          <a:prstGeom prst="rect">
            <a:avLst/>
          </a:prstGeom>
          <a:noFill/>
        </p:spPr>
        <p:txBody>
          <a:bodyPr wrap="square" lIns="0" tIns="0" rIns="0" bIns="0">
            <a:spAutoFit/>
          </a:bodyPr>
          <a:lstStyle/>
          <a:p>
            <a:pPr>
              <a:defRPr sz="1200" b="1">
                <a:solidFill>
                  <a:srgbClr val="10B981"/>
                </a:solidFill>
              </a:defRPr>
            </a:pPr>
            <a:r>
              <a:t>3. AI Provider Resiliency &amp; Timeouts</a:t>
            </a:r>
          </a:p>
        </p:txBody>
      </p:sp>
      <p:sp>
        <p:nvSpPr>
          <p:cNvPr id="14" name="TextBox 13"/>
          <p:cNvSpPr txBox="1"/>
          <p:nvPr/>
        </p:nvSpPr>
        <p:spPr>
          <a:xfrm>
            <a:off x="914400" y="4297680"/>
            <a:ext cx="4754880" cy="1737360"/>
          </a:xfrm>
          <a:prstGeom prst="rect">
            <a:avLst/>
          </a:prstGeom>
          <a:noFill/>
        </p:spPr>
        <p:txBody>
          <a:bodyPr wrap="square">
            <a:spAutoFit/>
          </a:bodyPr>
          <a:lstStyle/>
          <a:p>
            <a:pPr>
              <a:defRPr sz="950" b="1">
                <a:solidFill>
                  <a:srgbClr val="0F172A"/>
                </a:solidFill>
              </a:defRPr>
            </a:pPr>
            <a:r>
              <a:t>• Graceful Fallback Mechanism: </a:t>
            </a:r>
            <a:r>
              <a:rPr b="0">
                <a:solidFill>
                  <a:srgbClr val="64748B"/>
                </a:solidFill>
              </a:rPr>
              <a:t>If Gemini returns 503 or quota limits, the orchestrator safely engages deterministic mock responses.</a:t>
            </a:r>
          </a:p>
          <a:p>
            <a:pPr>
              <a:spcBef>
                <a:spcPts val="400"/>
              </a:spcBef>
              <a:defRPr sz="950" b="1">
                <a:solidFill>
                  <a:srgbClr val="0F172A"/>
                </a:solidFill>
              </a:defRPr>
            </a:pPr>
            <a:r>
              <a:t>• Bounded Token Windows: </a:t>
            </a:r>
            <a:r>
              <a:rPr b="0">
                <a:solidFill>
                  <a:srgbClr val="64748B"/>
                </a:solidFill>
              </a:rPr>
              <a:t>MAX_TOKENS_PER_REQUEST clamped at 4,096 tokens to avoid runaway generation costs.</a:t>
            </a:r>
          </a:p>
          <a:p>
            <a:pPr>
              <a:spcBef>
                <a:spcPts val="400"/>
              </a:spcBef>
              <a:defRPr sz="950" b="1">
                <a:solidFill>
                  <a:srgbClr val="0F172A"/>
                </a:solidFill>
              </a:defRPr>
            </a:pPr>
            <a:r>
              <a:t>• Context Length Truncation: </a:t>
            </a:r>
            <a:r>
              <a:rPr b="0">
                <a:solidFill>
                  <a:srgbClr val="64748B"/>
                </a:solidFill>
              </a:rPr>
              <a:t>Conversation histories pruned to the most recent 10 turns to avoid LLM context overflow.</a:t>
            </a:r>
          </a:p>
          <a:p>
            <a:pPr>
              <a:spcBef>
                <a:spcPts val="400"/>
              </a:spcBef>
              <a:defRPr sz="950" b="1">
                <a:solidFill>
                  <a:srgbClr val="0F172A"/>
                </a:solidFill>
              </a:defRPr>
            </a:pPr>
            <a:r>
              <a:t>• Rate Limit Shields: </a:t>
            </a:r>
            <a:r>
              <a:rPr b="0">
                <a:solidFill>
                  <a:srgbClr val="64748B"/>
                </a:solidFill>
              </a:rPr>
              <a:t>express-rate-limit caps client queries to 1000 requests per 15-minute window.</a:t>
            </a:r>
          </a:p>
        </p:txBody>
      </p:sp>
      <p:sp>
        <p:nvSpPr>
          <p:cNvPr id="15" name="Rounded Rectangle 14"/>
          <p:cNvSpPr/>
          <p:nvPr/>
        </p:nvSpPr>
        <p:spPr>
          <a:xfrm>
            <a:off x="6217920" y="3840480"/>
            <a:ext cx="52422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005072"/>
            <a:ext cx="4876495" cy="320040"/>
          </a:xfrm>
          <a:prstGeom prst="rect">
            <a:avLst/>
          </a:prstGeom>
          <a:noFill/>
        </p:spPr>
        <p:txBody>
          <a:bodyPr wrap="square" lIns="0" tIns="0" rIns="0" bIns="0">
            <a:spAutoFit/>
          </a:bodyPr>
          <a:lstStyle/>
          <a:p>
            <a:pPr>
              <a:defRPr sz="1200" b="1">
                <a:solidFill>
                  <a:srgbClr val="F59E0B"/>
                </a:solidFill>
              </a:defRPr>
            </a:pPr>
            <a:r>
              <a:t>4. Resilient Error Boundaries</a:t>
            </a:r>
          </a:p>
        </p:txBody>
      </p:sp>
      <p:sp>
        <p:nvSpPr>
          <p:cNvPr id="17" name="TextBox 16"/>
          <p:cNvSpPr txBox="1"/>
          <p:nvPr/>
        </p:nvSpPr>
        <p:spPr>
          <a:xfrm>
            <a:off x="6400800" y="4297680"/>
            <a:ext cx="4876495" cy="1737360"/>
          </a:xfrm>
          <a:prstGeom prst="rect">
            <a:avLst/>
          </a:prstGeom>
          <a:noFill/>
        </p:spPr>
        <p:txBody>
          <a:bodyPr wrap="square">
            <a:spAutoFit/>
          </a:bodyPr>
          <a:lstStyle/>
          <a:p>
            <a:pPr>
              <a:defRPr sz="950" b="1">
                <a:solidFill>
                  <a:srgbClr val="0F172A"/>
                </a:solidFill>
              </a:defRPr>
            </a:pPr>
            <a:r>
              <a:t>• Global Express Error Handler: </a:t>
            </a:r>
            <a:r>
              <a:rPr b="0">
                <a:solidFill>
                  <a:srgbClr val="64748B"/>
                </a:solidFill>
              </a:rPr>
              <a:t>Catches unhandled rejections, formats standardized ApiResponse JSON, and hides stack traces in prod.</a:t>
            </a:r>
          </a:p>
          <a:p>
            <a:pPr>
              <a:spcBef>
                <a:spcPts val="400"/>
              </a:spcBef>
              <a:defRPr sz="950" b="1">
                <a:solidFill>
                  <a:srgbClr val="0F172A"/>
                </a:solidFill>
              </a:defRPr>
            </a:pPr>
            <a:r>
              <a:t>• React Error Boundary: </a:t>
            </a:r>
            <a:r>
              <a:rPr b="0">
                <a:solidFill>
                  <a:srgbClr val="64748B"/>
                </a:solidFill>
              </a:rPr>
              <a:t>Prevents full-page crashes if a component encounters malformed data.</a:t>
            </a:r>
          </a:p>
          <a:p>
            <a:pPr>
              <a:spcBef>
                <a:spcPts val="400"/>
              </a:spcBef>
              <a:defRPr sz="950" b="1">
                <a:solidFill>
                  <a:srgbClr val="0F172A"/>
                </a:solidFill>
              </a:defRPr>
            </a:pPr>
            <a:r>
              <a:t>• Database Disconnection Traps: </a:t>
            </a:r>
            <a:r>
              <a:rPr b="0">
                <a:solidFill>
                  <a:srgbClr val="64748B"/>
                </a:solidFill>
              </a:rPr>
              <a:t>Mongoose connection listeners log connection losses and gracefully terminate processes.</a:t>
            </a:r>
          </a:p>
          <a:p>
            <a:pPr>
              <a:spcBef>
                <a:spcPts val="400"/>
              </a:spcBef>
              <a:defRPr sz="950" b="1">
                <a:solidFill>
                  <a:srgbClr val="0F172A"/>
                </a:solidFill>
              </a:defRPr>
            </a:pPr>
            <a:r>
              <a:t>• Graceful Process Shutdown: </a:t>
            </a:r>
            <a:r>
              <a:rPr b="0">
                <a:solidFill>
                  <a:srgbClr val="64748B"/>
                </a:solidFill>
              </a:rPr>
              <a:t>SIGTERM/SIGINT handlers close active HTTP connections before container termination.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74320"/>
          </a:xfrm>
          <a:prstGeom prst="rect">
            <a:avLst/>
          </a:prstGeom>
          <a:noFill/>
        </p:spPr>
        <p:txBody>
          <a:bodyPr wrap="square" lIns="0" tIns="0" rIns="0" bIns="0">
            <a:spAutoFit/>
          </a:bodyPr>
          <a:lstStyle/>
          <a:p>
            <a:pPr>
              <a:defRPr sz="1000" b="1">
                <a:solidFill>
                  <a:srgbClr val="4F46E5"/>
                </a:solidFill>
              </a:defRPr>
            </a:pPr>
            <a:r>
              <a:t>13. FUTURE ENHANCEMENTS</a:t>
            </a:r>
          </a:p>
        </p:txBody>
      </p:sp>
      <p:sp>
        <p:nvSpPr>
          <p:cNvPr id="4" name="TextBox 3"/>
          <p:cNvSpPr txBox="1"/>
          <p:nvPr/>
        </p:nvSpPr>
        <p:spPr>
          <a:xfrm>
            <a:off x="731520" y="640080"/>
            <a:ext cx="10515600" cy="548640"/>
          </a:xfrm>
          <a:prstGeom prst="rect">
            <a:avLst/>
          </a:prstGeom>
          <a:noFill/>
        </p:spPr>
        <p:txBody>
          <a:bodyPr wrap="square" lIns="0" tIns="0" rIns="0" bIns="0">
            <a:spAutoFit/>
          </a:bodyPr>
          <a:lstStyle/>
          <a:p>
            <a:pPr>
              <a:defRPr sz="2200" b="1">
                <a:solidFill>
                  <a:srgbClr val="0F172A"/>
                </a:solidFill>
              </a:defRPr>
            </a:pPr>
            <a:r>
              <a:t>Future Scalability &amp; Technical Roadmap</a:t>
            </a:r>
          </a:p>
        </p:txBody>
      </p:sp>
      <p:sp>
        <p:nvSpPr>
          <p:cNvPr id="5" name="TextBox 4"/>
          <p:cNvSpPr txBox="1"/>
          <p:nvPr/>
        </p:nvSpPr>
        <p:spPr>
          <a:xfrm>
            <a:off x="731520" y="6400800"/>
            <a:ext cx="10728655" cy="274320"/>
          </a:xfrm>
          <a:prstGeom prst="rect">
            <a:avLst/>
          </a:prstGeom>
          <a:noFill/>
        </p:spPr>
        <p:txBody>
          <a:bodyPr wrap="none" lIns="0" tIns="0" rIns="0" bIns="0">
            <a:spAutoFit/>
          </a:bodyPr>
          <a:lstStyle/>
          <a:p>
            <a:pPr>
              <a:defRPr sz="900">
                <a:solidFill>
                  <a:srgbClr val="64748B"/>
                </a:solidFill>
              </a:defRPr>
            </a:pPr>
            <a:r>
              <a:t>VentureOS Technical Evaluation Deck  |  Prepared by Tooba Farhat  |  Slide 14 of 15</a:t>
            </a:r>
          </a:p>
        </p:txBody>
      </p:sp>
      <p:sp>
        <p:nvSpPr>
          <p:cNvPr id="6" name="Rounded Rectangle 5"/>
          <p:cNvSpPr/>
          <p:nvPr/>
        </p:nvSpPr>
        <p:spPr>
          <a:xfrm>
            <a:off x="731520" y="1371600"/>
            <a:ext cx="32918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36192"/>
            <a:ext cx="2926080" cy="320040"/>
          </a:xfrm>
          <a:prstGeom prst="rect">
            <a:avLst/>
          </a:prstGeom>
          <a:noFill/>
        </p:spPr>
        <p:txBody>
          <a:bodyPr wrap="square" lIns="0" tIns="0" rIns="0" bIns="0">
            <a:spAutoFit/>
          </a:bodyPr>
          <a:lstStyle/>
          <a:p>
            <a:pPr>
              <a:defRPr sz="1200" b="1">
                <a:solidFill>
                  <a:srgbClr val="2563EB"/>
                </a:solidFill>
              </a:defRPr>
            </a:pPr>
            <a:r>
              <a:t>Phase 1: Near-Term Enhancements (Q1-Q2)</a:t>
            </a:r>
          </a:p>
        </p:txBody>
      </p:sp>
      <p:sp>
        <p:nvSpPr>
          <p:cNvPr id="8" name="TextBox 7"/>
          <p:cNvSpPr txBox="1"/>
          <p:nvPr/>
        </p:nvSpPr>
        <p:spPr>
          <a:xfrm>
            <a:off x="914400" y="1874520"/>
            <a:ext cx="2926080" cy="4114800"/>
          </a:xfrm>
          <a:prstGeom prst="rect">
            <a:avLst/>
          </a:prstGeom>
          <a:noFill/>
        </p:spPr>
        <p:txBody>
          <a:bodyPr wrap="square">
            <a:spAutoFit/>
          </a:bodyPr>
          <a:lstStyle/>
          <a:p>
            <a:pPr>
              <a:defRPr sz="950" b="1">
                <a:solidFill>
                  <a:srgbClr val="0F172A"/>
                </a:solidFill>
              </a:defRPr>
            </a:pPr>
            <a:r>
              <a:t>• BullMQ &amp; Redis Workers: </a:t>
            </a:r>
            <a:r>
              <a:rPr b="0">
                <a:solidFill>
                  <a:srgbClr val="64748B"/>
                </a:solidFill>
              </a:rPr>
              <a:t>Offload document extraction and heavy embedding generation to asynchronous worker queues.</a:t>
            </a:r>
          </a:p>
          <a:p>
            <a:pPr>
              <a:spcBef>
                <a:spcPts val="600"/>
              </a:spcBef>
              <a:defRPr sz="950" b="1">
                <a:solidFill>
                  <a:srgbClr val="0F172A"/>
                </a:solidFill>
              </a:defRPr>
            </a:pPr>
            <a:r>
              <a:t>• Semantic Embedding Cache: </a:t>
            </a:r>
            <a:r>
              <a:rPr b="0">
                <a:solidFill>
                  <a:srgbClr val="64748B"/>
                </a:solidFill>
              </a:rPr>
              <a:t>Cache frequent RAG vector searches in Redis to reduce Gemini API token consumption.</a:t>
            </a:r>
          </a:p>
          <a:p>
            <a:pPr>
              <a:spcBef>
                <a:spcPts val="600"/>
              </a:spcBef>
              <a:defRPr sz="950" b="1">
                <a:solidFill>
                  <a:srgbClr val="0F172A"/>
                </a:solidFill>
              </a:defRPr>
            </a:pPr>
            <a:r>
              <a:t>• Real-Time Meeting Audio: </a:t>
            </a:r>
            <a:r>
              <a:rPr b="0">
                <a:solidFill>
                  <a:srgbClr val="64748B"/>
                </a:solidFill>
              </a:rPr>
              <a:t>Integrate WebRTC and Whisper for live streaming speech-to-text during conference calls.</a:t>
            </a:r>
          </a:p>
          <a:p>
            <a:pPr>
              <a:spcBef>
                <a:spcPts val="600"/>
              </a:spcBef>
              <a:defRPr sz="950" b="1">
                <a:solidFill>
                  <a:srgbClr val="0F172A"/>
                </a:solidFill>
              </a:defRPr>
            </a:pPr>
            <a:r>
              <a:t>• Automated Test Expansion: </a:t>
            </a:r>
            <a:r>
              <a:rPr b="0">
                <a:solidFill>
                  <a:srgbClr val="64748B"/>
                </a:solidFill>
              </a:rPr>
              <a:t>Increase test coverage to 90%+ with Cypress/Playwright automated browser testing.</a:t>
            </a:r>
          </a:p>
          <a:p>
            <a:pPr>
              <a:spcBef>
                <a:spcPts val="600"/>
              </a:spcBef>
              <a:defRPr sz="950" b="1">
                <a:solidFill>
                  <a:srgbClr val="0F172A"/>
                </a:solidFill>
              </a:defRPr>
            </a:pPr>
            <a:r>
              <a:t>• Granular Team Permissions: </a:t>
            </a:r>
            <a:r>
              <a:rPr b="0">
                <a:solidFill>
                  <a:srgbClr val="64748B"/>
                </a:solidFill>
              </a:rPr>
              <a:t>Custom role creator allowing owners to define bespoke read/write scopes per module.</a:t>
            </a:r>
          </a:p>
        </p:txBody>
      </p:sp>
      <p:sp>
        <p:nvSpPr>
          <p:cNvPr id="9" name="Rounded Rectangle 8"/>
          <p:cNvSpPr/>
          <p:nvPr/>
        </p:nvSpPr>
        <p:spPr>
          <a:xfrm>
            <a:off x="4297680" y="1371600"/>
            <a:ext cx="356616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536192"/>
            <a:ext cx="3200400" cy="320040"/>
          </a:xfrm>
          <a:prstGeom prst="rect">
            <a:avLst/>
          </a:prstGeom>
          <a:noFill/>
        </p:spPr>
        <p:txBody>
          <a:bodyPr wrap="square" lIns="0" tIns="0" rIns="0" bIns="0">
            <a:spAutoFit/>
          </a:bodyPr>
          <a:lstStyle/>
          <a:p>
            <a:pPr>
              <a:defRPr sz="1200" b="1">
                <a:solidFill>
                  <a:srgbClr val="4F46E5"/>
                </a:solidFill>
              </a:defRPr>
            </a:pPr>
            <a:r>
              <a:t>Phase 2: Medium-Term Scalability (Q3)</a:t>
            </a:r>
          </a:p>
        </p:txBody>
      </p:sp>
      <p:sp>
        <p:nvSpPr>
          <p:cNvPr id="11" name="TextBox 10"/>
          <p:cNvSpPr txBox="1"/>
          <p:nvPr/>
        </p:nvSpPr>
        <p:spPr>
          <a:xfrm>
            <a:off x="4480560" y="1874520"/>
            <a:ext cx="3200400" cy="4114800"/>
          </a:xfrm>
          <a:prstGeom prst="rect">
            <a:avLst/>
          </a:prstGeom>
          <a:noFill/>
        </p:spPr>
        <p:txBody>
          <a:bodyPr wrap="square">
            <a:spAutoFit/>
          </a:bodyPr>
          <a:lstStyle/>
          <a:p>
            <a:pPr>
              <a:defRPr sz="950" b="1">
                <a:solidFill>
                  <a:srgbClr val="0F172A"/>
                </a:solidFill>
              </a:defRPr>
            </a:pPr>
            <a:r>
              <a:t>• Dedicated Vector Database: </a:t>
            </a:r>
            <a:r>
              <a:rPr b="0">
                <a:solidFill>
                  <a:srgbClr val="64748B"/>
                </a:solidFill>
              </a:rPr>
              <a:t>Migrate from MongoDB in-memory cosine vectors to Pinecone or Qdrant for million-chunk scale.</a:t>
            </a:r>
          </a:p>
          <a:p>
            <a:pPr>
              <a:spcBef>
                <a:spcPts val="600"/>
              </a:spcBef>
              <a:defRPr sz="950" b="1">
                <a:solidFill>
                  <a:srgbClr val="0F172A"/>
                </a:solidFill>
              </a:defRPr>
            </a:pPr>
            <a:r>
              <a:t>• Two-Way CRM Webhooks: </a:t>
            </a:r>
            <a:r>
              <a:rPr b="0">
                <a:solidFill>
                  <a:srgbClr val="64748B"/>
                </a:solidFill>
              </a:rPr>
              <a:t>Bi-directional synchronization webhooks for HubSpot, Salesforce, and Pipedrive.</a:t>
            </a:r>
          </a:p>
          <a:p>
            <a:pPr>
              <a:spcBef>
                <a:spcPts val="600"/>
              </a:spcBef>
              <a:defRPr sz="950" b="1">
                <a:solidFill>
                  <a:srgbClr val="0F172A"/>
                </a:solidFill>
              </a:defRPr>
            </a:pPr>
            <a:r>
              <a:t>• Fine-Tuned Domain Models: </a:t>
            </a:r>
            <a:r>
              <a:rPr b="0">
                <a:solidFill>
                  <a:srgbClr val="64748B"/>
                </a:solidFill>
              </a:rPr>
              <a:t>LoRA fine-tuning for domain-specific SaaS churn risk and legal contract review.</a:t>
            </a:r>
          </a:p>
          <a:p>
            <a:pPr>
              <a:spcBef>
                <a:spcPts val="600"/>
              </a:spcBef>
              <a:defRPr sz="950" b="1">
                <a:solidFill>
                  <a:srgbClr val="0F172A"/>
                </a:solidFill>
              </a:defRPr>
            </a:pPr>
            <a:r>
              <a:t>• Automated CI/CD Test Gate: </a:t>
            </a:r>
            <a:r>
              <a:rPr b="0">
                <a:solidFill>
                  <a:srgbClr val="64748B"/>
                </a:solidFill>
              </a:rPr>
              <a:t>GitHub Actions pipeline running Jest and lint checks before allowing Render deploys.</a:t>
            </a:r>
          </a:p>
          <a:p>
            <a:pPr>
              <a:spcBef>
                <a:spcPts val="600"/>
              </a:spcBef>
              <a:defRPr sz="950" b="1">
                <a:solidFill>
                  <a:srgbClr val="0F172A"/>
                </a:solidFill>
              </a:defRPr>
            </a:pPr>
            <a:r>
              <a:t>• Stripe Billing Integration: </a:t>
            </a:r>
            <a:r>
              <a:rPr b="0">
                <a:solidFill>
                  <a:srgbClr val="64748B"/>
                </a:solidFill>
              </a:rPr>
              <a:t>Self-serve subscription management, automated seat billing, and usage tier gating.</a:t>
            </a:r>
          </a:p>
        </p:txBody>
      </p:sp>
      <p:sp>
        <p:nvSpPr>
          <p:cNvPr id="12" name="Rounded Rectangle 11"/>
          <p:cNvSpPr/>
          <p:nvPr/>
        </p:nvSpPr>
        <p:spPr>
          <a:xfrm>
            <a:off x="8138160" y="1371600"/>
            <a:ext cx="32918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536192"/>
            <a:ext cx="2926080" cy="320040"/>
          </a:xfrm>
          <a:prstGeom prst="rect">
            <a:avLst/>
          </a:prstGeom>
          <a:noFill/>
        </p:spPr>
        <p:txBody>
          <a:bodyPr wrap="square" lIns="0" tIns="0" rIns="0" bIns="0">
            <a:spAutoFit/>
          </a:bodyPr>
          <a:lstStyle/>
          <a:p>
            <a:pPr>
              <a:defRPr sz="1200" b="1">
                <a:solidFill>
                  <a:srgbClr val="10B981"/>
                </a:solidFill>
              </a:defRPr>
            </a:pPr>
            <a:r>
              <a:t>Phase 3: Long-Term Enterprise Scale (Q4+)</a:t>
            </a:r>
          </a:p>
        </p:txBody>
      </p:sp>
      <p:sp>
        <p:nvSpPr>
          <p:cNvPr id="14" name="TextBox 13"/>
          <p:cNvSpPr txBox="1"/>
          <p:nvPr/>
        </p:nvSpPr>
        <p:spPr>
          <a:xfrm>
            <a:off x="8321040" y="1874520"/>
            <a:ext cx="2926080" cy="4114800"/>
          </a:xfrm>
          <a:prstGeom prst="rect">
            <a:avLst/>
          </a:prstGeom>
          <a:noFill/>
        </p:spPr>
        <p:txBody>
          <a:bodyPr wrap="square">
            <a:spAutoFit/>
          </a:bodyPr>
          <a:lstStyle/>
          <a:p>
            <a:pPr>
              <a:defRPr sz="950" b="1">
                <a:solidFill>
                  <a:srgbClr val="0F172A"/>
                </a:solidFill>
              </a:defRPr>
            </a:pPr>
            <a:r>
              <a:t>• Microservices Decomposition: </a:t>
            </a:r>
            <a:r>
              <a:rPr b="0">
                <a:solidFill>
                  <a:srgbClr val="64748B"/>
                </a:solidFill>
              </a:rPr>
              <a:t>Extract RAG engine and Financial Analytics into horizontally auto-scaling services.</a:t>
            </a:r>
          </a:p>
          <a:p>
            <a:pPr>
              <a:spcBef>
                <a:spcPts val="600"/>
              </a:spcBef>
              <a:defRPr sz="950" b="1">
                <a:solidFill>
                  <a:srgbClr val="0F172A"/>
                </a:solidFill>
              </a:defRPr>
            </a:pPr>
            <a:r>
              <a:t>• Multi-Region Database: </a:t>
            </a:r>
            <a:r>
              <a:rPr b="0">
                <a:solidFill>
                  <a:srgbClr val="64748B"/>
                </a:solidFill>
              </a:rPr>
              <a:t>MongoDB Atlas global clusters with localized read replicas across US, EU, and APAC.</a:t>
            </a:r>
          </a:p>
          <a:p>
            <a:pPr>
              <a:spcBef>
                <a:spcPts val="600"/>
              </a:spcBef>
              <a:defRPr sz="950" b="1">
                <a:solidFill>
                  <a:srgbClr val="0F172A"/>
                </a:solidFill>
              </a:defRPr>
            </a:pPr>
            <a:r>
              <a:t>• SOC 2 Type II Compliance: </a:t>
            </a:r>
            <a:r>
              <a:rPr b="0">
                <a:solidFill>
                  <a:srgbClr val="64748B"/>
                </a:solidFill>
              </a:rPr>
              <a:t>End-to-end data encryption at rest (KMS), automated compliance logging, and SSO/SAML.</a:t>
            </a:r>
          </a:p>
          <a:p>
            <a:pPr>
              <a:spcBef>
                <a:spcPts val="600"/>
              </a:spcBef>
              <a:defRPr sz="950" b="1">
                <a:solidFill>
                  <a:srgbClr val="0F172A"/>
                </a:solidFill>
              </a:defRPr>
            </a:pPr>
            <a:r>
              <a:t>• Autonomous Risk Agents: </a:t>
            </a:r>
            <a:r>
              <a:rPr b="0">
                <a:solidFill>
                  <a:srgbClr val="64748B"/>
                </a:solidFill>
              </a:rPr>
              <a:t>Scheduled background agents that simulate risk scenarios and forecast supply bottlenecks.</a:t>
            </a:r>
          </a:p>
          <a:p>
            <a:pPr>
              <a:spcBef>
                <a:spcPts val="600"/>
              </a:spcBef>
              <a:defRPr sz="950" b="1">
                <a:solidFill>
                  <a:srgbClr val="0F172A"/>
                </a:solidFill>
              </a:defRPr>
            </a:pPr>
            <a:r>
              <a:t>• On-Premises LLM Support: </a:t>
            </a:r>
            <a:r>
              <a:rPr b="0">
                <a:solidFill>
                  <a:srgbClr val="64748B"/>
                </a:solidFill>
              </a:rPr>
              <a:t>Support for locally-hosted Ollama / vLLM models for air-gapped enterprise deployments.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36576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515600" cy="731520"/>
          </a:xfrm>
          <a:prstGeom prst="rect">
            <a:avLst/>
          </a:prstGeom>
          <a:noFill/>
        </p:spPr>
        <p:txBody>
          <a:bodyPr wrap="square">
            <a:spAutoFit/>
          </a:bodyPr>
          <a:lstStyle/>
          <a:p>
            <a:pPr>
              <a:defRPr sz="2800" b="1">
                <a:solidFill>
                  <a:srgbClr val="FFFFFF"/>
                </a:solidFill>
              </a:defRPr>
            </a:pPr>
            <a:r>
              <a:t>Conclusion: Why VentureOS Stands Apart</a:t>
            </a:r>
          </a:p>
        </p:txBody>
      </p:sp>
      <p:sp>
        <p:nvSpPr>
          <p:cNvPr id="5" name="Rounded Rectangle 4"/>
          <p:cNvSpPr/>
          <p:nvPr/>
        </p:nvSpPr>
        <p:spPr>
          <a:xfrm>
            <a:off x="731520" y="1737360"/>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47088"/>
            <a:ext cx="10332720" cy="594360"/>
          </a:xfrm>
          <a:prstGeom prst="rect">
            <a:avLst/>
          </a:prstGeom>
          <a:noFill/>
        </p:spPr>
        <p:txBody>
          <a:bodyPr wrap="square">
            <a:spAutoFit/>
          </a:bodyPr>
          <a:lstStyle/>
          <a:p>
            <a:pPr>
              <a:defRPr sz="1100" b="1">
                <a:solidFill>
                  <a:srgbClr val="C7D2FE"/>
                </a:solidFill>
              </a:defRPr>
            </a:pPr>
            <a:r>
              <a:t>Unified Operational Closed-Loop: </a:t>
            </a:r>
            <a:r>
              <a:rPr sz="1000" b="0">
                <a:solidFill>
                  <a:srgbClr val="E2E8F0"/>
                </a:solidFill>
              </a:rPr>
              <a:t>10 connected business modules break down enterprise silos. Data from sales, support, and finance actively cross-pollinate to predict operational bottlenecks before they happen.</a:t>
            </a:r>
          </a:p>
        </p:txBody>
      </p:sp>
      <p:sp>
        <p:nvSpPr>
          <p:cNvPr id="7" name="Rounded Rectangle 6"/>
          <p:cNvSpPr/>
          <p:nvPr/>
        </p:nvSpPr>
        <p:spPr>
          <a:xfrm>
            <a:off x="731520" y="2606039"/>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715767"/>
            <a:ext cx="10332720" cy="594360"/>
          </a:xfrm>
          <a:prstGeom prst="rect">
            <a:avLst/>
          </a:prstGeom>
          <a:noFill/>
        </p:spPr>
        <p:txBody>
          <a:bodyPr wrap="square">
            <a:spAutoFit/>
          </a:bodyPr>
          <a:lstStyle/>
          <a:p>
            <a:pPr>
              <a:defRPr sz="1100" b="1">
                <a:solidFill>
                  <a:srgbClr val="C7D2FE"/>
                </a:solidFill>
              </a:defRPr>
            </a:pPr>
            <a:r>
              <a:t>Deterministic Math + Bounded AI: </a:t>
            </a:r>
            <a:r>
              <a:rPr sz="1000" b="0">
                <a:solidFill>
                  <a:srgbClr val="E2E8F0"/>
                </a:solidFill>
              </a:rPr>
              <a:t>Zero arithmetic hallucinations. Pure algorithms calculate MRR, burn rate, and runway. The AI layer is reserved strictly for narrative synthesis and authorized recommendations.</a:t>
            </a:r>
          </a:p>
        </p:txBody>
      </p:sp>
      <p:sp>
        <p:nvSpPr>
          <p:cNvPr id="9" name="Rounded Rectangle 8"/>
          <p:cNvSpPr/>
          <p:nvPr/>
        </p:nvSpPr>
        <p:spPr>
          <a:xfrm>
            <a:off x="731520" y="3474720"/>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84448"/>
            <a:ext cx="10332720" cy="594360"/>
          </a:xfrm>
          <a:prstGeom prst="rect">
            <a:avLst/>
          </a:prstGeom>
          <a:noFill/>
        </p:spPr>
        <p:txBody>
          <a:bodyPr wrap="square">
            <a:spAutoFit/>
          </a:bodyPr>
          <a:lstStyle/>
          <a:p>
            <a:pPr>
              <a:defRPr sz="1100" b="1">
                <a:solidFill>
                  <a:srgbClr val="C7D2FE"/>
                </a:solidFill>
              </a:defRPr>
            </a:pPr>
            <a:r>
              <a:t>Strict Multi-Tenant Isolation: </a:t>
            </a:r>
            <a:r>
              <a:rPr sz="1000" b="0">
                <a:solidFill>
                  <a:srgbClr val="E2E8F0"/>
                </a:solidFill>
              </a:rPr>
              <a:t>Compound-indexed workspace scoping across all 20 Mongoose schemas ensures complete data isolation. Verified cryptographically via automated integration tests.</a:t>
            </a:r>
          </a:p>
        </p:txBody>
      </p:sp>
      <p:sp>
        <p:nvSpPr>
          <p:cNvPr id="11" name="Rounded Rectangle 10"/>
          <p:cNvSpPr/>
          <p:nvPr/>
        </p:nvSpPr>
        <p:spPr>
          <a:xfrm>
            <a:off x="731520" y="4343400"/>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53128"/>
            <a:ext cx="10332720" cy="594360"/>
          </a:xfrm>
          <a:prstGeom prst="rect">
            <a:avLst/>
          </a:prstGeom>
          <a:noFill/>
        </p:spPr>
        <p:txBody>
          <a:bodyPr wrap="square">
            <a:spAutoFit/>
          </a:bodyPr>
          <a:lstStyle/>
          <a:p>
            <a:pPr>
              <a:defRPr sz="1100" b="1">
                <a:solidFill>
                  <a:srgbClr val="C7D2FE"/>
                </a:solidFill>
              </a:defRPr>
            </a:pPr>
            <a:r>
              <a:t>Human-in-the-Loop Governance: </a:t>
            </a:r>
            <a:r>
              <a:rPr sz="1000" b="0">
                <a:solidFill>
                  <a:srgbClr val="E2E8F0"/>
                </a:solidFill>
              </a:rPr>
              <a:t>The AI Copilot does not unilaterally mutate the database. High-impact actions are presented as structured Action Proposals requiring user confirmation.</a:t>
            </a:r>
          </a:p>
        </p:txBody>
      </p:sp>
      <p:sp>
        <p:nvSpPr>
          <p:cNvPr id="13" name="Rounded Rectangle 12"/>
          <p:cNvSpPr/>
          <p:nvPr/>
        </p:nvSpPr>
        <p:spPr>
          <a:xfrm>
            <a:off x="731520" y="5212079"/>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21807"/>
            <a:ext cx="10332720" cy="594360"/>
          </a:xfrm>
          <a:prstGeom prst="rect">
            <a:avLst/>
          </a:prstGeom>
          <a:noFill/>
        </p:spPr>
        <p:txBody>
          <a:bodyPr wrap="square">
            <a:spAutoFit/>
          </a:bodyPr>
          <a:lstStyle/>
          <a:p>
            <a:pPr>
              <a:defRPr sz="1100" b="1">
                <a:solidFill>
                  <a:srgbClr val="C7D2FE"/>
                </a:solidFill>
              </a:defRPr>
            </a:pPr>
            <a:r>
              <a:t>Verified &amp; Live Cloud Deployment: </a:t>
            </a:r>
            <a:r>
              <a:rPr sz="1000" b="0">
                <a:solidFill>
                  <a:srgbClr val="E2E8F0"/>
                </a:solidFill>
              </a:rPr>
              <a:t>Fully operational live deployment on Render and MongoDB Atlas with automated test suites verifying core end-to-end user journeys.</a:t>
            </a:r>
          </a:p>
        </p:txBody>
      </p:sp>
      <p:sp>
        <p:nvSpPr>
          <p:cNvPr id="15" name="TextBox 14"/>
          <p:cNvSpPr txBox="1"/>
          <p:nvPr/>
        </p:nvSpPr>
        <p:spPr>
          <a:xfrm>
            <a:off x="731520" y="6217920"/>
            <a:ext cx="10728655" cy="365760"/>
          </a:xfrm>
          <a:prstGeom prst="rect">
            <a:avLst/>
          </a:prstGeom>
          <a:noFill/>
        </p:spPr>
        <p:txBody>
          <a:bodyPr wrap="none">
            <a:spAutoFit/>
          </a:bodyPr>
          <a:lstStyle/>
          <a:p>
            <a:pPr>
              <a:defRPr sz="1000" b="1">
                <a:solidFill>
                  <a:srgbClr val="10B981"/>
                </a:solidFill>
              </a:defRPr>
            </a:pPr>
            <a:r>
              <a:t>Thank you for your time and evaluation.  |  Live App: https://ventureos-app.onrender.com  |  GitHub: github.com/ToobaFarhat/venture-os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